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CA1646-9C66-4A00-9E30-8F73221A53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C01666-2354-4131-B632-CA048CDA0FDF}">
      <dgm:prSet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/>
            <a:t>Reasoning Control in LLMs</a:t>
          </a:r>
        </a:p>
      </dgm:t>
    </dgm:pt>
    <dgm:pt modelId="{82BA2B55-753D-4430-AF11-F51FD6FA778C}" type="parTrans" cxnId="{DD61D7BF-3A98-4E72-80FB-53D29E4B63EA}">
      <dgm:prSet/>
      <dgm:spPr/>
      <dgm:t>
        <a:bodyPr/>
        <a:lstStyle/>
        <a:p>
          <a:endParaRPr lang="en-US"/>
        </a:p>
      </dgm:t>
    </dgm:pt>
    <dgm:pt modelId="{D0D12DF5-88D5-4C62-A34F-75E4156D93CF}" type="sibTrans" cxnId="{DD61D7BF-3A98-4E72-80FB-53D29E4B63EA}">
      <dgm:prSet/>
      <dgm:spPr/>
      <dgm:t>
        <a:bodyPr/>
        <a:lstStyle/>
        <a:p>
          <a:endParaRPr lang="en-US"/>
        </a:p>
      </dgm:t>
    </dgm:pt>
    <dgm:pt modelId="{F66ACCF5-374E-4ADE-BF15-A629B615CC36}">
      <dgm:prSet/>
      <dgm:spPr/>
      <dgm:t>
        <a:bodyPr/>
        <a:lstStyle/>
        <a:p>
          <a:r>
            <a:rPr lang="en-US" baseline="0" dirty="0"/>
            <a:t>Chain-of-Thought (Wei et al., 2022)- </a:t>
          </a:r>
          <a:r>
            <a:rPr lang="en-US" i="1" u="sng" baseline="0" dirty="0">
              <a:solidFill>
                <a:srgbClr val="0070C0"/>
              </a:solidFill>
            </a:rPr>
            <a:t>https://arxiv.org/abs/2205.11916</a:t>
          </a:r>
          <a:br>
            <a:rPr lang="en-US" baseline="0" dirty="0"/>
          </a:br>
          <a:r>
            <a:rPr lang="en-US" baseline="0" dirty="0"/>
            <a:t>- Improves reasoning accuracy but incurs large inference cost. </a:t>
          </a:r>
          <a:endParaRPr lang="en-US" dirty="0"/>
        </a:p>
      </dgm:t>
    </dgm:pt>
    <dgm:pt modelId="{7D440752-569D-424B-BF1E-AFA7C7DE2FCA}" type="parTrans" cxnId="{9F5950CE-98E5-4BDA-ADDA-C7319E56B117}">
      <dgm:prSet/>
      <dgm:spPr/>
      <dgm:t>
        <a:bodyPr/>
        <a:lstStyle/>
        <a:p>
          <a:endParaRPr lang="en-US"/>
        </a:p>
      </dgm:t>
    </dgm:pt>
    <dgm:pt modelId="{352AF5FB-F2EB-48FF-B3B5-208E57B91501}" type="sibTrans" cxnId="{9F5950CE-98E5-4BDA-ADDA-C7319E56B117}">
      <dgm:prSet/>
      <dgm:spPr/>
      <dgm:t>
        <a:bodyPr/>
        <a:lstStyle/>
        <a:p>
          <a:endParaRPr lang="en-US"/>
        </a:p>
      </dgm:t>
    </dgm:pt>
    <dgm:pt modelId="{ACC9C582-29B5-4AA3-868D-7861D6B418A9}">
      <dgm:prSet/>
      <dgm:spPr/>
      <dgm:t>
        <a:bodyPr/>
        <a:lstStyle/>
        <a:p>
          <a:r>
            <a:rPr lang="en-US" baseline="0" dirty="0"/>
            <a:t>Self-Consistency (Wang et al., 2022)- </a:t>
          </a:r>
          <a:r>
            <a:rPr lang="en-US" i="1" u="sng" baseline="0" dirty="0">
              <a:solidFill>
                <a:srgbClr val="0070C0"/>
              </a:solidFill>
            </a:rPr>
            <a:t>https://arxiv.org/pdf/2210.03363</a:t>
          </a:r>
          <a:br>
            <a:rPr lang="en-US" baseline="0" dirty="0"/>
          </a:br>
          <a:r>
            <a:rPr lang="en-US" baseline="0" dirty="0"/>
            <a:t>- Increases robustness at the cost of multiple reasoning samples.</a:t>
          </a:r>
          <a:endParaRPr lang="en-US" dirty="0"/>
        </a:p>
      </dgm:t>
    </dgm:pt>
    <dgm:pt modelId="{8438BBFF-E82D-47F9-AD29-7C8F0B063054}" type="parTrans" cxnId="{0A7C1771-AEDA-4844-AB50-BDFC045D4EA0}">
      <dgm:prSet/>
      <dgm:spPr/>
      <dgm:t>
        <a:bodyPr/>
        <a:lstStyle/>
        <a:p>
          <a:endParaRPr lang="en-US"/>
        </a:p>
      </dgm:t>
    </dgm:pt>
    <dgm:pt modelId="{D3CD75C2-0DE7-44D9-A436-2ACA74C91874}" type="sibTrans" cxnId="{0A7C1771-AEDA-4844-AB50-BDFC045D4EA0}">
      <dgm:prSet/>
      <dgm:spPr/>
      <dgm:t>
        <a:bodyPr/>
        <a:lstStyle/>
        <a:p>
          <a:endParaRPr lang="en-US"/>
        </a:p>
      </dgm:t>
    </dgm:pt>
    <dgm:pt modelId="{D0BCBB4C-A3B7-4911-A0B8-73222A1474F7}">
      <dgm:prSet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/>
            <a:t>Adaptive Reasoning &amp; Routing</a:t>
          </a:r>
        </a:p>
      </dgm:t>
    </dgm:pt>
    <dgm:pt modelId="{18077175-414E-45FF-803B-96DCE0212A82}" type="parTrans" cxnId="{D68BAAA7-CD87-4A3A-9730-B848F0058A89}">
      <dgm:prSet/>
      <dgm:spPr/>
      <dgm:t>
        <a:bodyPr/>
        <a:lstStyle/>
        <a:p>
          <a:endParaRPr lang="en-US"/>
        </a:p>
      </dgm:t>
    </dgm:pt>
    <dgm:pt modelId="{1A8140E5-94AB-4FCE-89F4-E14FDA9F9D03}" type="sibTrans" cxnId="{D68BAAA7-CD87-4A3A-9730-B848F0058A89}">
      <dgm:prSet/>
      <dgm:spPr/>
      <dgm:t>
        <a:bodyPr/>
        <a:lstStyle/>
        <a:p>
          <a:endParaRPr lang="en-US"/>
        </a:p>
      </dgm:t>
    </dgm:pt>
    <dgm:pt modelId="{A43DBEC6-E23D-4286-AC5F-59FF135AC580}">
      <dgm:prSet/>
      <dgm:spPr/>
      <dgm:t>
        <a:bodyPr/>
        <a:lstStyle/>
        <a:p>
          <a:r>
            <a:rPr lang="en-US" baseline="0" dirty="0"/>
            <a:t>Thinkless (</a:t>
          </a:r>
          <a:r>
            <a:rPr lang="en-US" baseline="0" dirty="0" err="1"/>
            <a:t>VainF</a:t>
          </a:r>
          <a:r>
            <a:rPr lang="en-US" baseline="0" dirty="0"/>
            <a:t> et al., 2025)- </a:t>
          </a:r>
          <a:r>
            <a:rPr lang="en-US" i="1" u="sng" baseline="0" dirty="0">
              <a:solidFill>
                <a:srgbClr val="0070C0"/>
              </a:solidFill>
            </a:rPr>
            <a:t>https://arxiv.org/abs/2505.13379</a:t>
          </a:r>
          <a:br>
            <a:rPr lang="en-US" baseline="0" dirty="0"/>
          </a:br>
          <a:r>
            <a:rPr lang="en-US" baseline="0" dirty="0"/>
            <a:t>- Uses reinforcement learning to decide between short vs long reasoning, reducing token usage while preserving accuracy.</a:t>
          </a:r>
          <a:endParaRPr lang="en-US" dirty="0"/>
        </a:p>
      </dgm:t>
    </dgm:pt>
    <dgm:pt modelId="{99928EB4-7910-465D-870B-DAEE48605A15}" type="parTrans" cxnId="{8E0A81B3-7E70-40CC-A394-2638A38AEC0D}">
      <dgm:prSet/>
      <dgm:spPr/>
      <dgm:t>
        <a:bodyPr/>
        <a:lstStyle/>
        <a:p>
          <a:endParaRPr lang="en-US"/>
        </a:p>
      </dgm:t>
    </dgm:pt>
    <dgm:pt modelId="{F4D4BFF6-B7DB-4F4A-B2AD-6DB082813B2B}" type="sibTrans" cxnId="{8E0A81B3-7E70-40CC-A394-2638A38AEC0D}">
      <dgm:prSet/>
      <dgm:spPr/>
      <dgm:t>
        <a:bodyPr/>
        <a:lstStyle/>
        <a:p>
          <a:endParaRPr lang="en-US"/>
        </a:p>
      </dgm:t>
    </dgm:pt>
    <dgm:pt modelId="{2D236FEF-51F2-4387-993F-897C63CB7FB9}">
      <dgm:prSet/>
      <dgm:spPr/>
      <dgm:t>
        <a:bodyPr/>
        <a:lstStyle/>
        <a:p>
          <a:r>
            <a:rPr lang="en-US" baseline="0" dirty="0"/>
            <a:t>LLM Routers / Mixture-of-Experts- </a:t>
          </a:r>
          <a:r>
            <a:rPr lang="en-US" i="1" u="sng" baseline="0" dirty="0">
              <a:solidFill>
                <a:srgbClr val="0070C0"/>
              </a:solidFill>
            </a:rPr>
            <a:t>https://arxiv.org/abs/2101.03961</a:t>
          </a:r>
          <a:br>
            <a:rPr lang="en-US" baseline="0" dirty="0"/>
          </a:br>
          <a:r>
            <a:rPr lang="en-US" baseline="0" dirty="0"/>
            <a:t>- Route inputs to models of different sizes but rely on static heuristics or external classifiers.</a:t>
          </a:r>
          <a:endParaRPr lang="en-US" dirty="0"/>
        </a:p>
      </dgm:t>
    </dgm:pt>
    <dgm:pt modelId="{8971EE02-F27C-4E81-9E22-0D5AB052BB88}" type="parTrans" cxnId="{BFFB40A7-170E-44E8-B67F-EC35894B7043}">
      <dgm:prSet/>
      <dgm:spPr/>
      <dgm:t>
        <a:bodyPr/>
        <a:lstStyle/>
        <a:p>
          <a:endParaRPr lang="en-US"/>
        </a:p>
      </dgm:t>
    </dgm:pt>
    <dgm:pt modelId="{8810F860-2086-43E0-B411-4AA230C3CD23}" type="sibTrans" cxnId="{BFFB40A7-170E-44E8-B67F-EC35894B7043}">
      <dgm:prSet/>
      <dgm:spPr/>
      <dgm:t>
        <a:bodyPr/>
        <a:lstStyle/>
        <a:p>
          <a:endParaRPr lang="en-US"/>
        </a:p>
      </dgm:t>
    </dgm:pt>
    <dgm:pt modelId="{FEC3D7C8-B130-45AA-A2B4-B8BF0FCC8574}">
      <dgm:prSet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dirty="0"/>
            <a:t>Limitations of Existing Approaches</a:t>
          </a:r>
        </a:p>
      </dgm:t>
    </dgm:pt>
    <dgm:pt modelId="{DBAC5C8D-3755-41D3-B432-E72C90E3B86F}" type="parTrans" cxnId="{5EA59474-55C5-44B8-925C-8AB6348634C5}">
      <dgm:prSet/>
      <dgm:spPr/>
      <dgm:t>
        <a:bodyPr/>
        <a:lstStyle/>
        <a:p>
          <a:endParaRPr lang="en-US"/>
        </a:p>
      </dgm:t>
    </dgm:pt>
    <dgm:pt modelId="{CFBE8C31-6E27-4826-8843-473F11A8A30A}" type="sibTrans" cxnId="{5EA59474-55C5-44B8-925C-8AB6348634C5}">
      <dgm:prSet/>
      <dgm:spPr/>
      <dgm:t>
        <a:bodyPr/>
        <a:lstStyle/>
        <a:p>
          <a:endParaRPr lang="en-US"/>
        </a:p>
      </dgm:t>
    </dgm:pt>
    <dgm:pt modelId="{B52F4DCA-C70D-4153-A4A8-B73502778933}">
      <dgm:prSet/>
      <dgm:spPr/>
      <dgm:t>
        <a:bodyPr/>
        <a:lstStyle/>
        <a:p>
          <a:r>
            <a:rPr lang="en-US" baseline="0"/>
            <a:t>No explicit modeling of compute budgets or latency</a:t>
          </a:r>
          <a:endParaRPr lang="en-US"/>
        </a:p>
      </dgm:t>
    </dgm:pt>
    <dgm:pt modelId="{5D9B8F60-4BA1-4558-B5AB-BFBC5FF12661}" type="parTrans" cxnId="{7B6F2B86-45F6-4A20-A809-06F41A90EDE1}">
      <dgm:prSet/>
      <dgm:spPr/>
      <dgm:t>
        <a:bodyPr/>
        <a:lstStyle/>
        <a:p>
          <a:endParaRPr lang="en-US"/>
        </a:p>
      </dgm:t>
    </dgm:pt>
    <dgm:pt modelId="{7AB0E324-6B79-49EF-983F-4137F051E77E}" type="sibTrans" cxnId="{7B6F2B86-45F6-4A20-A809-06F41A90EDE1}">
      <dgm:prSet/>
      <dgm:spPr/>
      <dgm:t>
        <a:bodyPr/>
        <a:lstStyle/>
        <a:p>
          <a:endParaRPr lang="en-US"/>
        </a:p>
      </dgm:t>
    </dgm:pt>
    <dgm:pt modelId="{69931912-03F9-4177-9D9C-0F51194B64B3}">
      <dgm:prSet/>
      <dgm:spPr/>
      <dgm:t>
        <a:bodyPr/>
        <a:lstStyle/>
        <a:p>
          <a:r>
            <a:rPr lang="en-US" baseline="0"/>
            <a:t>No abstention or uncertainty-aware behavior</a:t>
          </a:r>
          <a:endParaRPr lang="en-US"/>
        </a:p>
      </dgm:t>
    </dgm:pt>
    <dgm:pt modelId="{B0038873-F761-4995-92C7-14B356AC51B4}" type="parTrans" cxnId="{F8EDA2E7-C774-4284-A03C-22FAC70560B9}">
      <dgm:prSet/>
      <dgm:spPr/>
      <dgm:t>
        <a:bodyPr/>
        <a:lstStyle/>
        <a:p>
          <a:endParaRPr lang="en-US"/>
        </a:p>
      </dgm:t>
    </dgm:pt>
    <dgm:pt modelId="{60CECBC4-0E81-4B82-A762-C2709AED9221}" type="sibTrans" cxnId="{F8EDA2E7-C774-4284-A03C-22FAC70560B9}">
      <dgm:prSet/>
      <dgm:spPr/>
      <dgm:t>
        <a:bodyPr/>
        <a:lstStyle/>
        <a:p>
          <a:endParaRPr lang="en-US"/>
        </a:p>
      </dgm:t>
    </dgm:pt>
    <dgm:pt modelId="{09AB4A6F-E6E0-40D3-B697-6FDAADFC24CA}">
      <dgm:prSet/>
      <dgm:spPr/>
      <dgm:t>
        <a:bodyPr/>
        <a:lstStyle/>
        <a:p>
          <a:r>
            <a:rPr lang="en-US" baseline="0"/>
            <a:t>Optimization focuses primarily on accuracy, not multi-objective efficiency</a:t>
          </a:r>
          <a:endParaRPr lang="en-US"/>
        </a:p>
      </dgm:t>
    </dgm:pt>
    <dgm:pt modelId="{46B6687E-58DA-460E-A084-491739979550}" type="parTrans" cxnId="{0255DC44-933E-48DD-82F3-3B9AB668B111}">
      <dgm:prSet/>
      <dgm:spPr/>
      <dgm:t>
        <a:bodyPr/>
        <a:lstStyle/>
        <a:p>
          <a:endParaRPr lang="en-US"/>
        </a:p>
      </dgm:t>
    </dgm:pt>
    <dgm:pt modelId="{3B4AE023-93C9-4672-8EB1-74E1A9EA5D31}" type="sibTrans" cxnId="{0255DC44-933E-48DD-82F3-3B9AB668B111}">
      <dgm:prSet/>
      <dgm:spPr/>
      <dgm:t>
        <a:bodyPr/>
        <a:lstStyle/>
        <a:p>
          <a:endParaRPr lang="en-US"/>
        </a:p>
      </dgm:t>
    </dgm:pt>
    <dgm:pt modelId="{E3A8FA06-A014-4750-8D32-02DD027115DC}" type="pres">
      <dgm:prSet presAssocID="{59CA1646-9C66-4A00-9E30-8F73221A5307}" presName="linear" presStyleCnt="0">
        <dgm:presLayoutVars>
          <dgm:animLvl val="lvl"/>
          <dgm:resizeHandles val="exact"/>
        </dgm:presLayoutVars>
      </dgm:prSet>
      <dgm:spPr/>
    </dgm:pt>
    <dgm:pt modelId="{E1ECA71C-AE58-4409-BA23-3D6BDDA94C0D}" type="pres">
      <dgm:prSet presAssocID="{C6C01666-2354-4131-B632-CA048CDA0FD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F05D16-16AD-4796-B44C-A04A19CDC530}" type="pres">
      <dgm:prSet presAssocID="{C6C01666-2354-4131-B632-CA048CDA0FDF}" presName="childText" presStyleLbl="revTx" presStyleIdx="0" presStyleCnt="3">
        <dgm:presLayoutVars>
          <dgm:bulletEnabled val="1"/>
        </dgm:presLayoutVars>
      </dgm:prSet>
      <dgm:spPr/>
    </dgm:pt>
    <dgm:pt modelId="{856DE3FF-3109-4C05-A152-CEDB8902210A}" type="pres">
      <dgm:prSet presAssocID="{D0BCBB4C-A3B7-4911-A0B8-73222A1474F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3157FE0-B05A-4701-BC6D-5AD5EB19D7A8}" type="pres">
      <dgm:prSet presAssocID="{D0BCBB4C-A3B7-4911-A0B8-73222A1474F7}" presName="childText" presStyleLbl="revTx" presStyleIdx="1" presStyleCnt="3">
        <dgm:presLayoutVars>
          <dgm:bulletEnabled val="1"/>
        </dgm:presLayoutVars>
      </dgm:prSet>
      <dgm:spPr/>
    </dgm:pt>
    <dgm:pt modelId="{8F8E3966-F974-469C-8B58-B558FDFF750A}" type="pres">
      <dgm:prSet presAssocID="{FEC3D7C8-B130-45AA-A2B4-B8BF0FCC857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0B00F4C-D337-4D18-9B6D-B875AC418CA6}" type="pres">
      <dgm:prSet presAssocID="{FEC3D7C8-B130-45AA-A2B4-B8BF0FCC857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EE71113-8D7F-4FC4-899A-AA0550E2F0F6}" type="presOf" srcId="{2D236FEF-51F2-4387-993F-897C63CB7FB9}" destId="{03157FE0-B05A-4701-BC6D-5AD5EB19D7A8}" srcOrd="0" destOrd="1" presId="urn:microsoft.com/office/officeart/2005/8/layout/vList2"/>
    <dgm:cxn modelId="{BA3A3D3F-6608-47AF-B75E-62E58AFBBB06}" type="presOf" srcId="{B52F4DCA-C70D-4153-A4A8-B73502778933}" destId="{A0B00F4C-D337-4D18-9B6D-B875AC418CA6}" srcOrd="0" destOrd="0" presId="urn:microsoft.com/office/officeart/2005/8/layout/vList2"/>
    <dgm:cxn modelId="{0255DC44-933E-48DD-82F3-3B9AB668B111}" srcId="{FEC3D7C8-B130-45AA-A2B4-B8BF0FCC8574}" destId="{09AB4A6F-E6E0-40D3-B697-6FDAADFC24CA}" srcOrd="2" destOrd="0" parTransId="{46B6687E-58DA-460E-A084-491739979550}" sibTransId="{3B4AE023-93C9-4672-8EB1-74E1A9EA5D31}"/>
    <dgm:cxn modelId="{6890FD49-802C-4F62-9DD3-7BE3722B8412}" type="presOf" srcId="{FEC3D7C8-B130-45AA-A2B4-B8BF0FCC8574}" destId="{8F8E3966-F974-469C-8B58-B558FDFF750A}" srcOrd="0" destOrd="0" presId="urn:microsoft.com/office/officeart/2005/8/layout/vList2"/>
    <dgm:cxn modelId="{CB8F2C6D-AA7A-42AE-8A9B-D7115EE1EC9F}" type="presOf" srcId="{D0BCBB4C-A3B7-4911-A0B8-73222A1474F7}" destId="{856DE3FF-3109-4C05-A152-CEDB8902210A}" srcOrd="0" destOrd="0" presId="urn:microsoft.com/office/officeart/2005/8/layout/vList2"/>
    <dgm:cxn modelId="{0A7C1771-AEDA-4844-AB50-BDFC045D4EA0}" srcId="{C6C01666-2354-4131-B632-CA048CDA0FDF}" destId="{ACC9C582-29B5-4AA3-868D-7861D6B418A9}" srcOrd="1" destOrd="0" parTransId="{8438BBFF-E82D-47F9-AD29-7C8F0B063054}" sibTransId="{D3CD75C2-0DE7-44D9-A436-2ACA74C91874}"/>
    <dgm:cxn modelId="{5EA59474-55C5-44B8-925C-8AB6348634C5}" srcId="{59CA1646-9C66-4A00-9E30-8F73221A5307}" destId="{FEC3D7C8-B130-45AA-A2B4-B8BF0FCC8574}" srcOrd="2" destOrd="0" parTransId="{DBAC5C8D-3755-41D3-B432-E72C90E3B86F}" sibTransId="{CFBE8C31-6E27-4826-8843-473F11A8A30A}"/>
    <dgm:cxn modelId="{7B6F2B86-45F6-4A20-A809-06F41A90EDE1}" srcId="{FEC3D7C8-B130-45AA-A2B4-B8BF0FCC8574}" destId="{B52F4DCA-C70D-4153-A4A8-B73502778933}" srcOrd="0" destOrd="0" parTransId="{5D9B8F60-4BA1-4558-B5AB-BFBC5FF12661}" sibTransId="{7AB0E324-6B79-49EF-983F-4137F051E77E}"/>
    <dgm:cxn modelId="{3FB47A9A-F870-4E75-BF7A-D9763A79464B}" type="presOf" srcId="{F66ACCF5-374E-4ADE-BF15-A629B615CC36}" destId="{0EF05D16-16AD-4796-B44C-A04A19CDC530}" srcOrd="0" destOrd="0" presId="urn:microsoft.com/office/officeart/2005/8/layout/vList2"/>
    <dgm:cxn modelId="{7B31B6A4-62CC-4A6C-B0D2-2F835C298C2D}" type="presOf" srcId="{09AB4A6F-E6E0-40D3-B697-6FDAADFC24CA}" destId="{A0B00F4C-D337-4D18-9B6D-B875AC418CA6}" srcOrd="0" destOrd="2" presId="urn:microsoft.com/office/officeart/2005/8/layout/vList2"/>
    <dgm:cxn modelId="{BFFB40A7-170E-44E8-B67F-EC35894B7043}" srcId="{D0BCBB4C-A3B7-4911-A0B8-73222A1474F7}" destId="{2D236FEF-51F2-4387-993F-897C63CB7FB9}" srcOrd="1" destOrd="0" parTransId="{8971EE02-F27C-4E81-9E22-0D5AB052BB88}" sibTransId="{8810F860-2086-43E0-B411-4AA230C3CD23}"/>
    <dgm:cxn modelId="{D68BAAA7-CD87-4A3A-9730-B848F0058A89}" srcId="{59CA1646-9C66-4A00-9E30-8F73221A5307}" destId="{D0BCBB4C-A3B7-4911-A0B8-73222A1474F7}" srcOrd="1" destOrd="0" parTransId="{18077175-414E-45FF-803B-96DCE0212A82}" sibTransId="{1A8140E5-94AB-4FCE-89F4-E14FDA9F9D03}"/>
    <dgm:cxn modelId="{FE546AB2-408D-43A1-BF1F-BE31C66F5D24}" type="presOf" srcId="{C6C01666-2354-4131-B632-CA048CDA0FDF}" destId="{E1ECA71C-AE58-4409-BA23-3D6BDDA94C0D}" srcOrd="0" destOrd="0" presId="urn:microsoft.com/office/officeart/2005/8/layout/vList2"/>
    <dgm:cxn modelId="{8E0A81B3-7E70-40CC-A394-2638A38AEC0D}" srcId="{D0BCBB4C-A3B7-4911-A0B8-73222A1474F7}" destId="{A43DBEC6-E23D-4286-AC5F-59FF135AC580}" srcOrd="0" destOrd="0" parTransId="{99928EB4-7910-465D-870B-DAEE48605A15}" sibTransId="{F4D4BFF6-B7DB-4F4A-B2AD-6DB082813B2B}"/>
    <dgm:cxn modelId="{DD61D7BF-3A98-4E72-80FB-53D29E4B63EA}" srcId="{59CA1646-9C66-4A00-9E30-8F73221A5307}" destId="{C6C01666-2354-4131-B632-CA048CDA0FDF}" srcOrd="0" destOrd="0" parTransId="{82BA2B55-753D-4430-AF11-F51FD6FA778C}" sibTransId="{D0D12DF5-88D5-4C62-A34F-75E4156D93CF}"/>
    <dgm:cxn modelId="{4AF8E3C1-9F8F-4D0D-B8B0-9535000DC89D}" type="presOf" srcId="{ACC9C582-29B5-4AA3-868D-7861D6B418A9}" destId="{0EF05D16-16AD-4796-B44C-A04A19CDC530}" srcOrd="0" destOrd="1" presId="urn:microsoft.com/office/officeart/2005/8/layout/vList2"/>
    <dgm:cxn modelId="{9F5950CE-98E5-4BDA-ADDA-C7319E56B117}" srcId="{C6C01666-2354-4131-B632-CA048CDA0FDF}" destId="{F66ACCF5-374E-4ADE-BF15-A629B615CC36}" srcOrd="0" destOrd="0" parTransId="{7D440752-569D-424B-BF1E-AFA7C7DE2FCA}" sibTransId="{352AF5FB-F2EB-48FF-B3B5-208E57B91501}"/>
    <dgm:cxn modelId="{7978FDD0-10DF-450D-97A3-5E0E91FBB989}" type="presOf" srcId="{69931912-03F9-4177-9D9C-0F51194B64B3}" destId="{A0B00F4C-D337-4D18-9B6D-B875AC418CA6}" srcOrd="0" destOrd="1" presId="urn:microsoft.com/office/officeart/2005/8/layout/vList2"/>
    <dgm:cxn modelId="{8B7743DE-9412-4ACF-9689-E4AF316A8B40}" type="presOf" srcId="{A43DBEC6-E23D-4286-AC5F-59FF135AC580}" destId="{03157FE0-B05A-4701-BC6D-5AD5EB19D7A8}" srcOrd="0" destOrd="0" presId="urn:microsoft.com/office/officeart/2005/8/layout/vList2"/>
    <dgm:cxn modelId="{F8EDA2E7-C774-4284-A03C-22FAC70560B9}" srcId="{FEC3D7C8-B130-45AA-A2B4-B8BF0FCC8574}" destId="{69931912-03F9-4177-9D9C-0F51194B64B3}" srcOrd="1" destOrd="0" parTransId="{B0038873-F761-4995-92C7-14B356AC51B4}" sibTransId="{60CECBC4-0E81-4B82-A762-C2709AED9221}"/>
    <dgm:cxn modelId="{A708BDE8-FCF1-41DA-A5F3-C490D372FFD4}" type="presOf" srcId="{59CA1646-9C66-4A00-9E30-8F73221A5307}" destId="{E3A8FA06-A014-4750-8D32-02DD027115DC}" srcOrd="0" destOrd="0" presId="urn:microsoft.com/office/officeart/2005/8/layout/vList2"/>
    <dgm:cxn modelId="{ED232D8B-1CCF-40CA-930B-E548F7BA5D2B}" type="presParOf" srcId="{E3A8FA06-A014-4750-8D32-02DD027115DC}" destId="{E1ECA71C-AE58-4409-BA23-3D6BDDA94C0D}" srcOrd="0" destOrd="0" presId="urn:microsoft.com/office/officeart/2005/8/layout/vList2"/>
    <dgm:cxn modelId="{EF7DEF9D-9E78-40C9-A314-4A70D35C972B}" type="presParOf" srcId="{E3A8FA06-A014-4750-8D32-02DD027115DC}" destId="{0EF05D16-16AD-4796-B44C-A04A19CDC530}" srcOrd="1" destOrd="0" presId="urn:microsoft.com/office/officeart/2005/8/layout/vList2"/>
    <dgm:cxn modelId="{94E69D9B-68D8-41EE-93F4-C6BBA4D8F03F}" type="presParOf" srcId="{E3A8FA06-A014-4750-8D32-02DD027115DC}" destId="{856DE3FF-3109-4C05-A152-CEDB8902210A}" srcOrd="2" destOrd="0" presId="urn:microsoft.com/office/officeart/2005/8/layout/vList2"/>
    <dgm:cxn modelId="{2443F6F5-8FF4-4A0A-A9D6-070CEA90C5F0}" type="presParOf" srcId="{E3A8FA06-A014-4750-8D32-02DD027115DC}" destId="{03157FE0-B05A-4701-BC6D-5AD5EB19D7A8}" srcOrd="3" destOrd="0" presId="urn:microsoft.com/office/officeart/2005/8/layout/vList2"/>
    <dgm:cxn modelId="{BF70F462-9C24-4626-AD22-41024E0E1400}" type="presParOf" srcId="{E3A8FA06-A014-4750-8D32-02DD027115DC}" destId="{8F8E3966-F974-469C-8B58-B558FDFF750A}" srcOrd="4" destOrd="0" presId="urn:microsoft.com/office/officeart/2005/8/layout/vList2"/>
    <dgm:cxn modelId="{45B442B1-5E7D-47C3-A5D0-B47B4BCA8FB9}" type="presParOf" srcId="{E3A8FA06-A014-4750-8D32-02DD027115DC}" destId="{A0B00F4C-D337-4D18-9B6D-B875AC418CA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2FCE5D-45D1-4581-AF81-FBC44DC74AA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56DBCC-81EC-4A4F-981B-F7B86C3615FC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600" dirty="0"/>
            <a:t>Phase 1: Baseline Reproduction (Weeks 1–2)</a:t>
          </a:r>
        </a:p>
      </dgm:t>
    </dgm:pt>
    <dgm:pt modelId="{DF02642C-6445-4978-A0D0-7FEC4178513B}" type="parTrans" cxnId="{47686083-0AEF-4EB6-9077-B7D09EA69178}">
      <dgm:prSet/>
      <dgm:spPr/>
      <dgm:t>
        <a:bodyPr/>
        <a:lstStyle/>
        <a:p>
          <a:endParaRPr lang="en-US"/>
        </a:p>
      </dgm:t>
    </dgm:pt>
    <dgm:pt modelId="{699CC62A-5AF4-4C30-8ABF-2886697E0270}" type="sibTrans" cxnId="{47686083-0AEF-4EB6-9077-B7D09EA69178}">
      <dgm:prSet/>
      <dgm:spPr/>
      <dgm:t>
        <a:bodyPr/>
        <a:lstStyle/>
        <a:p>
          <a:endParaRPr lang="en-US"/>
        </a:p>
      </dgm:t>
    </dgm:pt>
    <dgm:pt modelId="{27302B1E-080D-444A-82CD-D017FCECFA56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400" baseline="0" dirty="0"/>
            <a:t>Reproduce Thinkless results on reasoning benchmarks (GSM8K, MATH-500)</a:t>
          </a:r>
          <a:endParaRPr lang="en-US" sz="1400" dirty="0"/>
        </a:p>
      </dgm:t>
    </dgm:pt>
    <dgm:pt modelId="{4A3E6515-069B-491C-8BAA-E05F78BDD04D}" type="parTrans" cxnId="{633E23BF-CF1E-461D-9BB9-CD71981786B4}">
      <dgm:prSet/>
      <dgm:spPr/>
      <dgm:t>
        <a:bodyPr/>
        <a:lstStyle/>
        <a:p>
          <a:endParaRPr lang="en-US"/>
        </a:p>
      </dgm:t>
    </dgm:pt>
    <dgm:pt modelId="{621BEBA8-1F60-4F55-990F-7E42CA73DA22}" type="sibTrans" cxnId="{633E23BF-CF1E-461D-9BB9-CD71981786B4}">
      <dgm:prSet/>
      <dgm:spPr/>
      <dgm:t>
        <a:bodyPr/>
        <a:lstStyle/>
        <a:p>
          <a:endParaRPr lang="en-US"/>
        </a:p>
      </dgm:t>
    </dgm:pt>
    <dgm:pt modelId="{D18DA96E-92B1-4A65-AA94-64B0F9CBB049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400" baseline="0" dirty="0"/>
            <a:t>Analyze token usage vs accuracy trade-offs</a:t>
          </a:r>
          <a:endParaRPr lang="en-US" sz="1400" dirty="0"/>
        </a:p>
      </dgm:t>
    </dgm:pt>
    <dgm:pt modelId="{746A2C3C-323A-4044-A7ED-C7E47702C1C5}" type="parTrans" cxnId="{76CC128C-58D1-4D7B-A283-76CB8A0374DF}">
      <dgm:prSet/>
      <dgm:spPr/>
      <dgm:t>
        <a:bodyPr/>
        <a:lstStyle/>
        <a:p>
          <a:endParaRPr lang="en-US"/>
        </a:p>
      </dgm:t>
    </dgm:pt>
    <dgm:pt modelId="{4D52DE07-3BE4-46A9-9A94-2DE18E66E551}" type="sibTrans" cxnId="{76CC128C-58D1-4D7B-A283-76CB8A0374DF}">
      <dgm:prSet/>
      <dgm:spPr/>
      <dgm:t>
        <a:bodyPr/>
        <a:lstStyle/>
        <a:p>
          <a:endParaRPr lang="en-US"/>
        </a:p>
      </dgm:t>
    </dgm:pt>
    <dgm:pt modelId="{3D6DB604-EDC3-4A0B-A459-D2ED76B70544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400" baseline="0" dirty="0"/>
            <a:t>Use Thinkless as the baseline policy</a:t>
          </a:r>
          <a:endParaRPr lang="en-US" sz="1400" dirty="0"/>
        </a:p>
      </dgm:t>
    </dgm:pt>
    <dgm:pt modelId="{70D52837-8447-459E-BC33-B5BBABDEC19A}" type="parTrans" cxnId="{6654A033-E61D-4D91-84C6-D052B0490361}">
      <dgm:prSet/>
      <dgm:spPr/>
      <dgm:t>
        <a:bodyPr/>
        <a:lstStyle/>
        <a:p>
          <a:endParaRPr lang="en-US"/>
        </a:p>
      </dgm:t>
    </dgm:pt>
    <dgm:pt modelId="{331EB907-7164-43BB-8325-5DF0B1A62BE8}" type="sibTrans" cxnId="{6654A033-E61D-4D91-84C6-D052B0490361}">
      <dgm:prSet/>
      <dgm:spPr/>
      <dgm:t>
        <a:bodyPr/>
        <a:lstStyle/>
        <a:p>
          <a:endParaRPr lang="en-US"/>
        </a:p>
      </dgm:t>
    </dgm:pt>
    <dgm:pt modelId="{DF06065A-B2DB-4951-A1C4-5F68B969E5E9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600" dirty="0"/>
            <a:t>Phase 2: Compute-Aware Policy Extension (Weeks 3–4)</a:t>
          </a:r>
        </a:p>
      </dgm:t>
    </dgm:pt>
    <dgm:pt modelId="{9AD0E02D-189A-49B6-AF4A-4EFC22F548A7}" type="parTrans" cxnId="{EDF7EC40-EB48-420A-B77E-69D205B3CDE3}">
      <dgm:prSet/>
      <dgm:spPr/>
      <dgm:t>
        <a:bodyPr/>
        <a:lstStyle/>
        <a:p>
          <a:endParaRPr lang="en-US"/>
        </a:p>
      </dgm:t>
    </dgm:pt>
    <dgm:pt modelId="{46E10B82-9976-4F5E-B7B3-6652DAACC1F0}" type="sibTrans" cxnId="{EDF7EC40-EB48-420A-B77E-69D205B3CDE3}">
      <dgm:prSet/>
      <dgm:spPr/>
      <dgm:t>
        <a:bodyPr/>
        <a:lstStyle/>
        <a:p>
          <a:endParaRPr lang="en-US"/>
        </a:p>
      </dgm:t>
    </dgm:pt>
    <dgm:pt modelId="{AF3BA708-0D53-4DC9-AB7A-5EC1DD1AFECA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400" baseline="0" dirty="0"/>
            <a:t>Introduce explicit token and latency budgets</a:t>
          </a:r>
          <a:endParaRPr lang="en-US" sz="1400" dirty="0"/>
        </a:p>
      </dgm:t>
    </dgm:pt>
    <dgm:pt modelId="{E362F9DB-3BD3-42B2-8CD6-7E68A0C23F18}" type="parTrans" cxnId="{CA09EEF8-1309-452E-AEC6-0D86B3D145AD}">
      <dgm:prSet/>
      <dgm:spPr/>
      <dgm:t>
        <a:bodyPr/>
        <a:lstStyle/>
        <a:p>
          <a:endParaRPr lang="en-US"/>
        </a:p>
      </dgm:t>
    </dgm:pt>
    <dgm:pt modelId="{E7095505-E2C8-4D9A-8FBA-4FDB5C17CEC7}" type="sibTrans" cxnId="{CA09EEF8-1309-452E-AEC6-0D86B3D145AD}">
      <dgm:prSet/>
      <dgm:spPr/>
      <dgm:t>
        <a:bodyPr/>
        <a:lstStyle/>
        <a:p>
          <a:endParaRPr lang="en-US"/>
        </a:p>
      </dgm:t>
    </dgm:pt>
    <dgm:pt modelId="{B18E8408-A4E2-4173-82E1-138BF016489C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400" baseline="0" dirty="0"/>
            <a:t>Modify reward function:</a:t>
          </a:r>
          <a:br>
            <a:rPr lang="en-US" sz="1400" baseline="0" dirty="0"/>
          </a:br>
          <a:r>
            <a:rPr lang="en-US" sz="1100" b="1" i="1" baseline="0" dirty="0">
              <a:solidFill>
                <a:schemeClr val="accent1">
                  <a:lumMod val="40000"/>
                  <a:lumOff val="60000"/>
                </a:schemeClr>
              </a:solidFill>
            </a:rPr>
            <a:t>Reward = Accuracy − </a:t>
          </a:r>
          <a:r>
            <a:rPr lang="el-GR" sz="1100" b="1" i="1" baseline="0" dirty="0">
              <a:solidFill>
                <a:schemeClr val="accent1">
                  <a:lumMod val="40000"/>
                  <a:lumOff val="60000"/>
                </a:schemeClr>
              </a:solidFill>
            </a:rPr>
            <a:t>λ·</a:t>
          </a:r>
          <a:r>
            <a:rPr lang="en-US" sz="1100" b="1" i="1" baseline="0" dirty="0">
              <a:solidFill>
                <a:schemeClr val="accent1">
                  <a:lumMod val="40000"/>
                  <a:lumOff val="60000"/>
                </a:schemeClr>
              </a:solidFill>
            </a:rPr>
            <a:t>Tokens − </a:t>
          </a:r>
          <a:r>
            <a:rPr lang="el-GR" sz="1100" b="1" i="1" baseline="0" dirty="0">
              <a:solidFill>
                <a:schemeClr val="accent1">
                  <a:lumMod val="40000"/>
                  <a:lumOff val="60000"/>
                </a:schemeClr>
              </a:solidFill>
            </a:rPr>
            <a:t>μ·</a:t>
          </a:r>
          <a:r>
            <a:rPr lang="en-US" sz="1100" b="1" i="1" baseline="0" dirty="0">
              <a:solidFill>
                <a:schemeClr val="accent1">
                  <a:lumMod val="40000"/>
                  <a:lumOff val="60000"/>
                </a:schemeClr>
              </a:solidFill>
            </a:rPr>
            <a:t>Latency</a:t>
          </a:r>
          <a:endParaRPr lang="en-US" sz="1100" b="1" i="1" dirty="0">
            <a:solidFill>
              <a:schemeClr val="accent1">
                <a:lumMod val="40000"/>
                <a:lumOff val="60000"/>
              </a:schemeClr>
            </a:solidFill>
          </a:endParaRPr>
        </a:p>
      </dgm:t>
    </dgm:pt>
    <dgm:pt modelId="{DC8BF34F-1E09-4D07-80FE-8EB1C99513ED}" type="parTrans" cxnId="{9134B938-BC7B-4E7F-AA87-DF044786C3CE}">
      <dgm:prSet/>
      <dgm:spPr/>
      <dgm:t>
        <a:bodyPr/>
        <a:lstStyle/>
        <a:p>
          <a:endParaRPr lang="en-US"/>
        </a:p>
      </dgm:t>
    </dgm:pt>
    <dgm:pt modelId="{4182BA1D-5730-495E-B50D-4A44B3672DA4}" type="sibTrans" cxnId="{9134B938-BC7B-4E7F-AA87-DF044786C3CE}">
      <dgm:prSet/>
      <dgm:spPr/>
      <dgm:t>
        <a:bodyPr/>
        <a:lstStyle/>
        <a:p>
          <a:endParaRPr lang="en-US"/>
        </a:p>
      </dgm:t>
    </dgm:pt>
    <dgm:pt modelId="{64EA9597-1B01-451D-AC18-EE5EEFD8BADA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400" baseline="0" dirty="0"/>
            <a:t>Train budget-aware inference policies</a:t>
          </a:r>
          <a:endParaRPr lang="en-US" sz="1400" dirty="0"/>
        </a:p>
      </dgm:t>
    </dgm:pt>
    <dgm:pt modelId="{CBBD2DFA-911B-41DB-8EB6-5ABD8312E2B2}" type="parTrans" cxnId="{445BC375-2D56-4493-AD19-7C500229C739}">
      <dgm:prSet/>
      <dgm:spPr/>
      <dgm:t>
        <a:bodyPr/>
        <a:lstStyle/>
        <a:p>
          <a:endParaRPr lang="en-US"/>
        </a:p>
      </dgm:t>
    </dgm:pt>
    <dgm:pt modelId="{C26B11FE-847E-40A7-8E36-E4D324DB47E1}" type="sibTrans" cxnId="{445BC375-2D56-4493-AD19-7C500229C739}">
      <dgm:prSet/>
      <dgm:spPr/>
      <dgm:t>
        <a:bodyPr/>
        <a:lstStyle/>
        <a:p>
          <a:endParaRPr lang="en-US"/>
        </a:p>
      </dgm:t>
    </dgm:pt>
    <dgm:pt modelId="{6637CF46-98B0-4253-9475-66E9D0576500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600" dirty="0"/>
            <a:t>Phase 3: Risk-Aware Abstention (Weeks 5–6)</a:t>
          </a:r>
        </a:p>
      </dgm:t>
    </dgm:pt>
    <dgm:pt modelId="{764DE166-02A6-4EA5-A269-61EFF6ED14D8}" type="parTrans" cxnId="{628FE369-0EAF-4BA0-AE0E-6B0BA4D6DCDE}">
      <dgm:prSet/>
      <dgm:spPr/>
      <dgm:t>
        <a:bodyPr/>
        <a:lstStyle/>
        <a:p>
          <a:endParaRPr lang="en-US"/>
        </a:p>
      </dgm:t>
    </dgm:pt>
    <dgm:pt modelId="{8854318E-85E2-42CB-8E96-5AB59FEFB40E}" type="sibTrans" cxnId="{628FE369-0EAF-4BA0-AE0E-6B0BA4D6DCDE}">
      <dgm:prSet/>
      <dgm:spPr/>
      <dgm:t>
        <a:bodyPr/>
        <a:lstStyle/>
        <a:p>
          <a:endParaRPr lang="en-US"/>
        </a:p>
      </dgm:t>
    </dgm:pt>
    <dgm:pt modelId="{EEA7E371-2F33-4357-9ADB-D2ACECD53725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400" baseline="0" dirty="0"/>
            <a:t>Add an abstain / defer action</a:t>
          </a:r>
          <a:endParaRPr lang="en-US" sz="1400" dirty="0"/>
        </a:p>
      </dgm:t>
    </dgm:pt>
    <dgm:pt modelId="{FC43E2B7-A00B-4682-BB5B-F8DA5FEE049E}" type="parTrans" cxnId="{B8D8AA32-CBA9-4070-BA45-44C8570F412D}">
      <dgm:prSet/>
      <dgm:spPr/>
      <dgm:t>
        <a:bodyPr/>
        <a:lstStyle/>
        <a:p>
          <a:endParaRPr lang="en-US"/>
        </a:p>
      </dgm:t>
    </dgm:pt>
    <dgm:pt modelId="{1B3FC5B0-3C38-4C14-8BD2-BB4B2C82C970}" type="sibTrans" cxnId="{B8D8AA32-CBA9-4070-BA45-44C8570F412D}">
      <dgm:prSet/>
      <dgm:spPr/>
      <dgm:t>
        <a:bodyPr/>
        <a:lstStyle/>
        <a:p>
          <a:endParaRPr lang="en-US"/>
        </a:p>
      </dgm:t>
    </dgm:pt>
    <dgm:pt modelId="{A3CC351D-2F00-4EC6-89B8-9603FF0CBFCE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400" baseline="0" dirty="0"/>
            <a:t>Use uncertainty signals (entropy, self-consistency variance)</a:t>
          </a:r>
          <a:endParaRPr lang="en-US" sz="1400" dirty="0"/>
        </a:p>
      </dgm:t>
    </dgm:pt>
    <dgm:pt modelId="{6ABA5B84-9345-4AC2-810A-E6E4C2A50038}" type="parTrans" cxnId="{80010B45-22C0-4D29-8BFB-1C38C902E1C8}">
      <dgm:prSet/>
      <dgm:spPr/>
      <dgm:t>
        <a:bodyPr/>
        <a:lstStyle/>
        <a:p>
          <a:endParaRPr lang="en-US"/>
        </a:p>
      </dgm:t>
    </dgm:pt>
    <dgm:pt modelId="{579151A0-53A7-49E1-9BA3-BD5BF1030E64}" type="sibTrans" cxnId="{80010B45-22C0-4D29-8BFB-1C38C902E1C8}">
      <dgm:prSet/>
      <dgm:spPr/>
      <dgm:t>
        <a:bodyPr/>
        <a:lstStyle/>
        <a:p>
          <a:endParaRPr lang="en-US"/>
        </a:p>
      </dgm:t>
    </dgm:pt>
    <dgm:pt modelId="{10C955E7-5379-40BC-98CC-40A4E513CB52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400" baseline="0" dirty="0"/>
            <a:t>Reward safe abstention under high uncertainty</a:t>
          </a:r>
          <a:endParaRPr lang="en-US" sz="1400" dirty="0"/>
        </a:p>
      </dgm:t>
    </dgm:pt>
    <dgm:pt modelId="{D4C9B123-5164-4E2D-8DCA-B25CBB7D4EDA}" type="parTrans" cxnId="{79C9CA7C-51A4-4E33-95E8-06D42A1D4FE7}">
      <dgm:prSet/>
      <dgm:spPr/>
      <dgm:t>
        <a:bodyPr/>
        <a:lstStyle/>
        <a:p>
          <a:endParaRPr lang="en-US"/>
        </a:p>
      </dgm:t>
    </dgm:pt>
    <dgm:pt modelId="{AA14D744-694B-47B9-BF64-6583DD336FAC}" type="sibTrans" cxnId="{79C9CA7C-51A4-4E33-95E8-06D42A1D4FE7}">
      <dgm:prSet/>
      <dgm:spPr/>
      <dgm:t>
        <a:bodyPr/>
        <a:lstStyle/>
        <a:p>
          <a:endParaRPr lang="en-US"/>
        </a:p>
      </dgm:t>
    </dgm:pt>
    <dgm:pt modelId="{8B35E3E9-0B2F-416F-9B03-027D0BA47E30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600" dirty="0"/>
            <a:t>Phase 4: Evaluation &amp; Analysis (Weeks 7–8)</a:t>
          </a:r>
        </a:p>
      </dgm:t>
    </dgm:pt>
    <dgm:pt modelId="{64E440F8-F829-4F6C-9973-DB138B21F129}" type="parTrans" cxnId="{E3C01ED5-34A0-4D98-BD42-59A3D67BA11B}">
      <dgm:prSet/>
      <dgm:spPr/>
      <dgm:t>
        <a:bodyPr/>
        <a:lstStyle/>
        <a:p>
          <a:endParaRPr lang="en-US"/>
        </a:p>
      </dgm:t>
    </dgm:pt>
    <dgm:pt modelId="{B8A90733-680A-4431-8C29-668FDA7FB29A}" type="sibTrans" cxnId="{E3C01ED5-34A0-4D98-BD42-59A3D67BA11B}">
      <dgm:prSet/>
      <dgm:spPr/>
      <dgm:t>
        <a:bodyPr/>
        <a:lstStyle/>
        <a:p>
          <a:endParaRPr lang="en-US"/>
        </a:p>
      </dgm:t>
    </dgm:pt>
    <dgm:pt modelId="{796F0148-6F58-445D-A407-4AAA59BA3924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400" baseline="0" dirty="0"/>
            <a:t>Plot Pareto frontiers (accuracy versus compute)</a:t>
          </a:r>
          <a:endParaRPr lang="en-US" sz="1400" dirty="0"/>
        </a:p>
      </dgm:t>
    </dgm:pt>
    <dgm:pt modelId="{CACD48B2-4DFA-4272-AE85-0A25623C772C}" type="sibTrans" cxnId="{46918351-6A7D-43D5-AB0A-F9B16F7BFADE}">
      <dgm:prSet/>
      <dgm:spPr/>
      <dgm:t>
        <a:bodyPr/>
        <a:lstStyle/>
        <a:p>
          <a:endParaRPr lang="en-US"/>
        </a:p>
      </dgm:t>
    </dgm:pt>
    <dgm:pt modelId="{AC357C23-DF14-443B-8386-2556AF292893}" type="parTrans" cxnId="{46918351-6A7D-43D5-AB0A-F9B16F7BFADE}">
      <dgm:prSet/>
      <dgm:spPr/>
      <dgm:t>
        <a:bodyPr/>
        <a:lstStyle/>
        <a:p>
          <a:endParaRPr lang="en-US"/>
        </a:p>
      </dgm:t>
    </dgm:pt>
    <dgm:pt modelId="{1E06C603-0CBD-41B0-91F1-9E0BDA4659F1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400" u="sng" baseline="0" dirty="0"/>
            <a:t>Metrics</a:t>
          </a:r>
          <a:r>
            <a:rPr lang="en-US" sz="1400" baseline="0" dirty="0"/>
            <a:t>:  Accuracy, Token usage, Latency, Calibration (ECE)</a:t>
          </a:r>
          <a:endParaRPr lang="en-US" sz="1400" dirty="0"/>
        </a:p>
      </dgm:t>
    </dgm:pt>
    <dgm:pt modelId="{603A2F2D-C27B-46F2-8BF9-707679E29614}" type="sibTrans" cxnId="{C5F45F3E-9CA6-498C-B841-1114CE2CBA65}">
      <dgm:prSet/>
      <dgm:spPr/>
      <dgm:t>
        <a:bodyPr/>
        <a:lstStyle/>
        <a:p>
          <a:endParaRPr lang="en-US"/>
        </a:p>
      </dgm:t>
    </dgm:pt>
    <dgm:pt modelId="{B9E7FB64-F9EC-40F6-B503-DB7BC778B91F}" type="parTrans" cxnId="{C5F45F3E-9CA6-498C-B841-1114CE2CBA65}">
      <dgm:prSet/>
      <dgm:spPr/>
      <dgm:t>
        <a:bodyPr/>
        <a:lstStyle/>
        <a:p>
          <a:endParaRPr lang="en-US"/>
        </a:p>
      </dgm:t>
    </dgm:pt>
    <dgm:pt modelId="{B034C8C1-C134-41EF-9B95-42E5E9589B83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1400" u="sng" baseline="0" dirty="0"/>
            <a:t>Compare against</a:t>
          </a:r>
          <a:r>
            <a:rPr lang="en-US" sz="1400" baseline="0" dirty="0"/>
            <a:t>: Always-think, Never-think, Original Thinkless</a:t>
          </a:r>
          <a:endParaRPr lang="en-US" sz="1400" dirty="0"/>
        </a:p>
      </dgm:t>
    </dgm:pt>
    <dgm:pt modelId="{02B8228E-A99B-4728-B1BC-6AB71DB2EC56}" type="sibTrans" cxnId="{B9B307CF-53CE-4310-843C-0A816FD0557B}">
      <dgm:prSet/>
      <dgm:spPr/>
      <dgm:t>
        <a:bodyPr/>
        <a:lstStyle/>
        <a:p>
          <a:endParaRPr lang="en-US"/>
        </a:p>
      </dgm:t>
    </dgm:pt>
    <dgm:pt modelId="{B3EEC0E8-5FCB-4DBF-8406-600B8A35BA4E}" type="parTrans" cxnId="{B9B307CF-53CE-4310-843C-0A816FD0557B}">
      <dgm:prSet/>
      <dgm:spPr/>
      <dgm:t>
        <a:bodyPr/>
        <a:lstStyle/>
        <a:p>
          <a:endParaRPr lang="en-US"/>
        </a:p>
      </dgm:t>
    </dgm:pt>
    <dgm:pt modelId="{2967ED40-C3D8-4EBD-87F3-D33CAF831280}" type="pres">
      <dgm:prSet presAssocID="{162FCE5D-45D1-4581-AF81-FBC44DC74AA8}" presName="Name0" presStyleCnt="0">
        <dgm:presLayoutVars>
          <dgm:dir/>
          <dgm:resizeHandles val="exact"/>
        </dgm:presLayoutVars>
      </dgm:prSet>
      <dgm:spPr/>
    </dgm:pt>
    <dgm:pt modelId="{FAEB9684-FF61-4A5D-BC28-2DD49654FB0A}" type="pres">
      <dgm:prSet presAssocID="{EE56DBCC-81EC-4A4F-981B-F7B86C3615FC}" presName="node" presStyleLbl="node1" presStyleIdx="0" presStyleCnt="4">
        <dgm:presLayoutVars>
          <dgm:bulletEnabled val="1"/>
        </dgm:presLayoutVars>
      </dgm:prSet>
      <dgm:spPr/>
    </dgm:pt>
    <dgm:pt modelId="{CF1E434C-576E-47FF-9CFC-9CB85E7C2EBA}" type="pres">
      <dgm:prSet presAssocID="{699CC62A-5AF4-4C30-8ABF-2886697E0270}" presName="sibTrans" presStyleLbl="sibTrans2D1" presStyleIdx="0" presStyleCnt="3"/>
      <dgm:spPr/>
    </dgm:pt>
    <dgm:pt modelId="{647D3E55-42E7-43C0-AE1B-40485A69C448}" type="pres">
      <dgm:prSet presAssocID="{699CC62A-5AF4-4C30-8ABF-2886697E0270}" presName="connectorText" presStyleLbl="sibTrans2D1" presStyleIdx="0" presStyleCnt="3"/>
      <dgm:spPr/>
    </dgm:pt>
    <dgm:pt modelId="{050B52D8-684C-4437-9E8F-FE9CE6FE6C99}" type="pres">
      <dgm:prSet presAssocID="{DF06065A-B2DB-4951-A1C4-5F68B969E5E9}" presName="node" presStyleLbl="node1" presStyleIdx="1" presStyleCnt="4">
        <dgm:presLayoutVars>
          <dgm:bulletEnabled val="1"/>
        </dgm:presLayoutVars>
      </dgm:prSet>
      <dgm:spPr/>
    </dgm:pt>
    <dgm:pt modelId="{562FA5B2-04A8-4AE7-9998-05270102CB68}" type="pres">
      <dgm:prSet presAssocID="{46E10B82-9976-4F5E-B7B3-6652DAACC1F0}" presName="sibTrans" presStyleLbl="sibTrans2D1" presStyleIdx="1" presStyleCnt="3"/>
      <dgm:spPr/>
    </dgm:pt>
    <dgm:pt modelId="{0A2ACC69-6EE5-4AC6-9240-B60871AE2E11}" type="pres">
      <dgm:prSet presAssocID="{46E10B82-9976-4F5E-B7B3-6652DAACC1F0}" presName="connectorText" presStyleLbl="sibTrans2D1" presStyleIdx="1" presStyleCnt="3"/>
      <dgm:spPr/>
    </dgm:pt>
    <dgm:pt modelId="{AD8E684E-181D-4083-99AB-7B07D2F2C687}" type="pres">
      <dgm:prSet presAssocID="{6637CF46-98B0-4253-9475-66E9D0576500}" presName="node" presStyleLbl="node1" presStyleIdx="2" presStyleCnt="4">
        <dgm:presLayoutVars>
          <dgm:bulletEnabled val="1"/>
        </dgm:presLayoutVars>
      </dgm:prSet>
      <dgm:spPr/>
    </dgm:pt>
    <dgm:pt modelId="{5E0ADB6B-906E-4207-96B5-D3CF42F6B37B}" type="pres">
      <dgm:prSet presAssocID="{8854318E-85E2-42CB-8E96-5AB59FEFB40E}" presName="sibTrans" presStyleLbl="sibTrans2D1" presStyleIdx="2" presStyleCnt="3"/>
      <dgm:spPr/>
    </dgm:pt>
    <dgm:pt modelId="{D4DBA4B0-5021-4966-BD7A-F35EFDD549E8}" type="pres">
      <dgm:prSet presAssocID="{8854318E-85E2-42CB-8E96-5AB59FEFB40E}" presName="connectorText" presStyleLbl="sibTrans2D1" presStyleIdx="2" presStyleCnt="3"/>
      <dgm:spPr/>
    </dgm:pt>
    <dgm:pt modelId="{43B483ED-033D-4E47-9C40-D6411D339A48}" type="pres">
      <dgm:prSet presAssocID="{8B35E3E9-0B2F-416F-9B03-027D0BA47E30}" presName="node" presStyleLbl="node1" presStyleIdx="3" presStyleCnt="4">
        <dgm:presLayoutVars>
          <dgm:bulletEnabled val="1"/>
        </dgm:presLayoutVars>
      </dgm:prSet>
      <dgm:spPr/>
    </dgm:pt>
  </dgm:ptLst>
  <dgm:cxnLst>
    <dgm:cxn modelId="{6C7B5000-AF8C-4915-821E-455BC94CD772}" type="presOf" srcId="{DF06065A-B2DB-4951-A1C4-5F68B969E5E9}" destId="{050B52D8-684C-4437-9E8F-FE9CE6FE6C99}" srcOrd="0" destOrd="0" presId="urn:microsoft.com/office/officeart/2005/8/layout/process1"/>
    <dgm:cxn modelId="{3C12770B-303B-4192-A255-B5144DB63C70}" type="presOf" srcId="{162FCE5D-45D1-4581-AF81-FBC44DC74AA8}" destId="{2967ED40-C3D8-4EBD-87F3-D33CAF831280}" srcOrd="0" destOrd="0" presId="urn:microsoft.com/office/officeart/2005/8/layout/process1"/>
    <dgm:cxn modelId="{8A041317-2012-44E9-9B88-93B8CE00C03A}" type="presOf" srcId="{AF3BA708-0D53-4DC9-AB7A-5EC1DD1AFECA}" destId="{050B52D8-684C-4437-9E8F-FE9CE6FE6C99}" srcOrd="0" destOrd="1" presId="urn:microsoft.com/office/officeart/2005/8/layout/process1"/>
    <dgm:cxn modelId="{44BFF421-4B8F-42B8-89B0-C26C5B7991ED}" type="presOf" srcId="{10C955E7-5379-40BC-98CC-40A4E513CB52}" destId="{AD8E684E-181D-4083-99AB-7B07D2F2C687}" srcOrd="0" destOrd="3" presId="urn:microsoft.com/office/officeart/2005/8/layout/process1"/>
    <dgm:cxn modelId="{B8D8AA32-CBA9-4070-BA45-44C8570F412D}" srcId="{6637CF46-98B0-4253-9475-66E9D0576500}" destId="{EEA7E371-2F33-4357-9ADB-D2ACECD53725}" srcOrd="0" destOrd="0" parTransId="{FC43E2B7-A00B-4682-BB5B-F8DA5FEE049E}" sibTransId="{1B3FC5B0-3C38-4C14-8BD2-BB4B2C82C970}"/>
    <dgm:cxn modelId="{6654A033-E61D-4D91-84C6-D052B0490361}" srcId="{EE56DBCC-81EC-4A4F-981B-F7B86C3615FC}" destId="{3D6DB604-EDC3-4A0B-A459-D2ED76B70544}" srcOrd="2" destOrd="0" parTransId="{70D52837-8447-459E-BC33-B5BBABDEC19A}" sibTransId="{331EB907-7164-43BB-8325-5DF0B1A62BE8}"/>
    <dgm:cxn modelId="{AE1B2738-6A61-46EE-ABB5-3DFB65A5270F}" type="presOf" srcId="{27302B1E-080D-444A-82CD-D017FCECFA56}" destId="{FAEB9684-FF61-4A5D-BC28-2DD49654FB0A}" srcOrd="0" destOrd="1" presId="urn:microsoft.com/office/officeart/2005/8/layout/process1"/>
    <dgm:cxn modelId="{9134B938-BC7B-4E7F-AA87-DF044786C3CE}" srcId="{DF06065A-B2DB-4951-A1C4-5F68B969E5E9}" destId="{B18E8408-A4E2-4173-82E1-138BF016489C}" srcOrd="1" destOrd="0" parTransId="{DC8BF34F-1E09-4D07-80FE-8EB1C99513ED}" sibTransId="{4182BA1D-5730-495E-B50D-4A44B3672DA4}"/>
    <dgm:cxn modelId="{C5F45F3E-9CA6-498C-B841-1114CE2CBA65}" srcId="{8B35E3E9-0B2F-416F-9B03-027D0BA47E30}" destId="{1E06C603-0CBD-41B0-91F1-9E0BDA4659F1}" srcOrd="1" destOrd="0" parTransId="{B9E7FB64-F9EC-40F6-B503-DB7BC778B91F}" sibTransId="{603A2F2D-C27B-46F2-8BF9-707679E29614}"/>
    <dgm:cxn modelId="{EDF7EC40-EB48-420A-B77E-69D205B3CDE3}" srcId="{162FCE5D-45D1-4581-AF81-FBC44DC74AA8}" destId="{DF06065A-B2DB-4951-A1C4-5F68B969E5E9}" srcOrd="1" destOrd="0" parTransId="{9AD0E02D-189A-49B6-AF4A-4EFC22F548A7}" sibTransId="{46E10B82-9976-4F5E-B7B3-6652DAACC1F0}"/>
    <dgm:cxn modelId="{714D925E-A16E-4BAA-A180-63061401B6C1}" type="presOf" srcId="{B18E8408-A4E2-4173-82E1-138BF016489C}" destId="{050B52D8-684C-4437-9E8F-FE9CE6FE6C99}" srcOrd="0" destOrd="2" presId="urn:microsoft.com/office/officeart/2005/8/layout/process1"/>
    <dgm:cxn modelId="{80010B45-22C0-4D29-8BFB-1C38C902E1C8}" srcId="{6637CF46-98B0-4253-9475-66E9D0576500}" destId="{A3CC351D-2F00-4EC6-89B8-9603FF0CBFCE}" srcOrd="1" destOrd="0" parTransId="{6ABA5B84-9345-4AC2-810A-E6E4C2A50038}" sibTransId="{579151A0-53A7-49E1-9BA3-BD5BF1030E64}"/>
    <dgm:cxn modelId="{628FE369-0EAF-4BA0-AE0E-6B0BA4D6DCDE}" srcId="{162FCE5D-45D1-4581-AF81-FBC44DC74AA8}" destId="{6637CF46-98B0-4253-9475-66E9D0576500}" srcOrd="2" destOrd="0" parTransId="{764DE166-02A6-4EA5-A269-61EFF6ED14D8}" sibTransId="{8854318E-85E2-42CB-8E96-5AB59FEFB40E}"/>
    <dgm:cxn modelId="{5003436D-AFEE-420F-8D7B-D5C9CBCE319F}" type="presOf" srcId="{8854318E-85E2-42CB-8E96-5AB59FEFB40E}" destId="{D4DBA4B0-5021-4966-BD7A-F35EFDD549E8}" srcOrd="1" destOrd="0" presId="urn:microsoft.com/office/officeart/2005/8/layout/process1"/>
    <dgm:cxn modelId="{46918351-6A7D-43D5-AB0A-F9B16F7BFADE}" srcId="{8B35E3E9-0B2F-416F-9B03-027D0BA47E30}" destId="{796F0148-6F58-445D-A407-4AAA59BA3924}" srcOrd="2" destOrd="0" parTransId="{AC357C23-DF14-443B-8386-2556AF292893}" sibTransId="{CACD48B2-4DFA-4272-AE85-0A25623C772C}"/>
    <dgm:cxn modelId="{F12F3E53-EF6E-437B-83C0-08DB6621B81A}" type="presOf" srcId="{8854318E-85E2-42CB-8E96-5AB59FEFB40E}" destId="{5E0ADB6B-906E-4207-96B5-D3CF42F6B37B}" srcOrd="0" destOrd="0" presId="urn:microsoft.com/office/officeart/2005/8/layout/process1"/>
    <dgm:cxn modelId="{445BC375-2D56-4493-AD19-7C500229C739}" srcId="{DF06065A-B2DB-4951-A1C4-5F68B969E5E9}" destId="{64EA9597-1B01-451D-AC18-EE5EEFD8BADA}" srcOrd="2" destOrd="0" parTransId="{CBBD2DFA-911B-41DB-8EB6-5ABD8312E2B2}" sibTransId="{C26B11FE-847E-40A7-8E36-E4D324DB47E1}"/>
    <dgm:cxn modelId="{F92E4E76-2EBB-4585-8DE3-D7502ABA463F}" type="presOf" srcId="{46E10B82-9976-4F5E-B7B3-6652DAACC1F0}" destId="{562FA5B2-04A8-4AE7-9998-05270102CB68}" srcOrd="0" destOrd="0" presId="urn:microsoft.com/office/officeart/2005/8/layout/process1"/>
    <dgm:cxn modelId="{6127BA59-E755-4C72-B1A6-7ADBB902D36A}" type="presOf" srcId="{699CC62A-5AF4-4C30-8ABF-2886697E0270}" destId="{647D3E55-42E7-43C0-AE1B-40485A69C448}" srcOrd="1" destOrd="0" presId="urn:microsoft.com/office/officeart/2005/8/layout/process1"/>
    <dgm:cxn modelId="{00C35C7A-D4CC-4A6A-95F4-4C0DCFDF6B08}" type="presOf" srcId="{796F0148-6F58-445D-A407-4AAA59BA3924}" destId="{43B483ED-033D-4E47-9C40-D6411D339A48}" srcOrd="0" destOrd="3" presId="urn:microsoft.com/office/officeart/2005/8/layout/process1"/>
    <dgm:cxn modelId="{64E1585A-77E1-4C20-A3FA-6CEA0B3142D0}" type="presOf" srcId="{3D6DB604-EDC3-4A0B-A459-D2ED76B70544}" destId="{FAEB9684-FF61-4A5D-BC28-2DD49654FB0A}" srcOrd="0" destOrd="3" presId="urn:microsoft.com/office/officeart/2005/8/layout/process1"/>
    <dgm:cxn modelId="{79C9CA7C-51A4-4E33-95E8-06D42A1D4FE7}" srcId="{6637CF46-98B0-4253-9475-66E9D0576500}" destId="{10C955E7-5379-40BC-98CC-40A4E513CB52}" srcOrd="2" destOrd="0" parTransId="{D4C9B123-5164-4E2D-8DCA-B25CBB7D4EDA}" sibTransId="{AA14D744-694B-47B9-BF64-6583DD336FAC}"/>
    <dgm:cxn modelId="{47686083-0AEF-4EB6-9077-B7D09EA69178}" srcId="{162FCE5D-45D1-4581-AF81-FBC44DC74AA8}" destId="{EE56DBCC-81EC-4A4F-981B-F7B86C3615FC}" srcOrd="0" destOrd="0" parTransId="{DF02642C-6445-4978-A0D0-7FEC4178513B}" sibTransId="{699CC62A-5AF4-4C30-8ABF-2886697E0270}"/>
    <dgm:cxn modelId="{18B90985-BA0E-4B11-A277-EBC0F93B8A79}" type="presOf" srcId="{1E06C603-0CBD-41B0-91F1-9E0BDA4659F1}" destId="{43B483ED-033D-4E47-9C40-D6411D339A48}" srcOrd="0" destOrd="2" presId="urn:microsoft.com/office/officeart/2005/8/layout/process1"/>
    <dgm:cxn modelId="{143AB887-398A-470D-8E47-D1448B585A64}" type="presOf" srcId="{A3CC351D-2F00-4EC6-89B8-9603FF0CBFCE}" destId="{AD8E684E-181D-4083-99AB-7B07D2F2C687}" srcOrd="0" destOrd="2" presId="urn:microsoft.com/office/officeart/2005/8/layout/process1"/>
    <dgm:cxn modelId="{76431788-2806-4F50-B45E-AA35FE22B52A}" type="presOf" srcId="{64EA9597-1B01-451D-AC18-EE5EEFD8BADA}" destId="{050B52D8-684C-4437-9E8F-FE9CE6FE6C99}" srcOrd="0" destOrd="3" presId="urn:microsoft.com/office/officeart/2005/8/layout/process1"/>
    <dgm:cxn modelId="{CCB9FD8B-4CBC-4535-B4A8-630F09D1A48F}" type="presOf" srcId="{8B35E3E9-0B2F-416F-9B03-027D0BA47E30}" destId="{43B483ED-033D-4E47-9C40-D6411D339A48}" srcOrd="0" destOrd="0" presId="urn:microsoft.com/office/officeart/2005/8/layout/process1"/>
    <dgm:cxn modelId="{76CC128C-58D1-4D7B-A283-76CB8A0374DF}" srcId="{EE56DBCC-81EC-4A4F-981B-F7B86C3615FC}" destId="{D18DA96E-92B1-4A65-AA94-64B0F9CBB049}" srcOrd="1" destOrd="0" parTransId="{746A2C3C-323A-4044-A7ED-C7E47702C1C5}" sibTransId="{4D52DE07-3BE4-46A9-9A94-2DE18E66E551}"/>
    <dgm:cxn modelId="{508D9AAC-BC9C-4DF0-ACA2-218207B36D17}" type="presOf" srcId="{D18DA96E-92B1-4A65-AA94-64B0F9CBB049}" destId="{FAEB9684-FF61-4A5D-BC28-2DD49654FB0A}" srcOrd="0" destOrd="2" presId="urn:microsoft.com/office/officeart/2005/8/layout/process1"/>
    <dgm:cxn modelId="{28F139B4-49FF-4868-9C33-3680B1A7AA1A}" type="presOf" srcId="{699CC62A-5AF4-4C30-8ABF-2886697E0270}" destId="{CF1E434C-576E-47FF-9CFC-9CB85E7C2EBA}" srcOrd="0" destOrd="0" presId="urn:microsoft.com/office/officeart/2005/8/layout/process1"/>
    <dgm:cxn modelId="{43CCB5B5-5617-4877-9D63-81E24B3C3DFF}" type="presOf" srcId="{EE56DBCC-81EC-4A4F-981B-F7B86C3615FC}" destId="{FAEB9684-FF61-4A5D-BC28-2DD49654FB0A}" srcOrd="0" destOrd="0" presId="urn:microsoft.com/office/officeart/2005/8/layout/process1"/>
    <dgm:cxn modelId="{FBFCB5B6-602A-4CCE-A90E-5FCD97A00F1A}" type="presOf" srcId="{B034C8C1-C134-41EF-9B95-42E5E9589B83}" destId="{43B483ED-033D-4E47-9C40-D6411D339A48}" srcOrd="0" destOrd="1" presId="urn:microsoft.com/office/officeart/2005/8/layout/process1"/>
    <dgm:cxn modelId="{633E23BF-CF1E-461D-9BB9-CD71981786B4}" srcId="{EE56DBCC-81EC-4A4F-981B-F7B86C3615FC}" destId="{27302B1E-080D-444A-82CD-D017FCECFA56}" srcOrd="0" destOrd="0" parTransId="{4A3E6515-069B-491C-8BAA-E05F78BDD04D}" sibTransId="{621BEBA8-1F60-4F55-990F-7E42CA73DA22}"/>
    <dgm:cxn modelId="{0E7F78C2-BC01-45F1-9A5E-22F18A50165C}" type="presOf" srcId="{6637CF46-98B0-4253-9475-66E9D0576500}" destId="{AD8E684E-181D-4083-99AB-7B07D2F2C687}" srcOrd="0" destOrd="0" presId="urn:microsoft.com/office/officeart/2005/8/layout/process1"/>
    <dgm:cxn modelId="{B9B307CF-53CE-4310-843C-0A816FD0557B}" srcId="{8B35E3E9-0B2F-416F-9B03-027D0BA47E30}" destId="{B034C8C1-C134-41EF-9B95-42E5E9589B83}" srcOrd="0" destOrd="0" parTransId="{B3EEC0E8-5FCB-4DBF-8406-600B8A35BA4E}" sibTransId="{02B8228E-A99B-4728-B1BC-6AB71DB2EC56}"/>
    <dgm:cxn modelId="{9AB04ED0-FBFB-497F-9426-C17532B14DE6}" type="presOf" srcId="{EEA7E371-2F33-4357-9ADB-D2ACECD53725}" destId="{AD8E684E-181D-4083-99AB-7B07D2F2C687}" srcOrd="0" destOrd="1" presId="urn:microsoft.com/office/officeart/2005/8/layout/process1"/>
    <dgm:cxn modelId="{E3C01ED5-34A0-4D98-BD42-59A3D67BA11B}" srcId="{162FCE5D-45D1-4581-AF81-FBC44DC74AA8}" destId="{8B35E3E9-0B2F-416F-9B03-027D0BA47E30}" srcOrd="3" destOrd="0" parTransId="{64E440F8-F829-4F6C-9973-DB138B21F129}" sibTransId="{B8A90733-680A-4431-8C29-668FDA7FB29A}"/>
    <dgm:cxn modelId="{5A5E08F8-6412-4B3E-81D1-7A32A911173B}" type="presOf" srcId="{46E10B82-9976-4F5E-B7B3-6652DAACC1F0}" destId="{0A2ACC69-6EE5-4AC6-9240-B60871AE2E11}" srcOrd="1" destOrd="0" presId="urn:microsoft.com/office/officeart/2005/8/layout/process1"/>
    <dgm:cxn modelId="{CA09EEF8-1309-452E-AEC6-0D86B3D145AD}" srcId="{DF06065A-B2DB-4951-A1C4-5F68B969E5E9}" destId="{AF3BA708-0D53-4DC9-AB7A-5EC1DD1AFECA}" srcOrd="0" destOrd="0" parTransId="{E362F9DB-3BD3-42B2-8CD6-7E68A0C23F18}" sibTransId="{E7095505-E2C8-4D9A-8FBA-4FDB5C17CEC7}"/>
    <dgm:cxn modelId="{E38F3DD9-E684-4182-AF30-CCDE2E088C34}" type="presParOf" srcId="{2967ED40-C3D8-4EBD-87F3-D33CAF831280}" destId="{FAEB9684-FF61-4A5D-BC28-2DD49654FB0A}" srcOrd="0" destOrd="0" presId="urn:microsoft.com/office/officeart/2005/8/layout/process1"/>
    <dgm:cxn modelId="{DC013EEE-A920-4809-80CF-43699DA2518F}" type="presParOf" srcId="{2967ED40-C3D8-4EBD-87F3-D33CAF831280}" destId="{CF1E434C-576E-47FF-9CFC-9CB85E7C2EBA}" srcOrd="1" destOrd="0" presId="urn:microsoft.com/office/officeart/2005/8/layout/process1"/>
    <dgm:cxn modelId="{1B807232-2FCD-4750-A942-3E873E846631}" type="presParOf" srcId="{CF1E434C-576E-47FF-9CFC-9CB85E7C2EBA}" destId="{647D3E55-42E7-43C0-AE1B-40485A69C448}" srcOrd="0" destOrd="0" presId="urn:microsoft.com/office/officeart/2005/8/layout/process1"/>
    <dgm:cxn modelId="{D09EFEBC-0BFC-4802-8BCD-D545621E27DC}" type="presParOf" srcId="{2967ED40-C3D8-4EBD-87F3-D33CAF831280}" destId="{050B52D8-684C-4437-9E8F-FE9CE6FE6C99}" srcOrd="2" destOrd="0" presId="urn:microsoft.com/office/officeart/2005/8/layout/process1"/>
    <dgm:cxn modelId="{24DC9214-1C93-42CB-AEFE-5DB89F0BFC7E}" type="presParOf" srcId="{2967ED40-C3D8-4EBD-87F3-D33CAF831280}" destId="{562FA5B2-04A8-4AE7-9998-05270102CB68}" srcOrd="3" destOrd="0" presId="urn:microsoft.com/office/officeart/2005/8/layout/process1"/>
    <dgm:cxn modelId="{6F7669D9-85F7-4F0B-B637-6BA8FDCA88AF}" type="presParOf" srcId="{562FA5B2-04A8-4AE7-9998-05270102CB68}" destId="{0A2ACC69-6EE5-4AC6-9240-B60871AE2E11}" srcOrd="0" destOrd="0" presId="urn:microsoft.com/office/officeart/2005/8/layout/process1"/>
    <dgm:cxn modelId="{5E01A414-AAC2-4930-838B-C8010578F0BE}" type="presParOf" srcId="{2967ED40-C3D8-4EBD-87F3-D33CAF831280}" destId="{AD8E684E-181D-4083-99AB-7B07D2F2C687}" srcOrd="4" destOrd="0" presId="urn:microsoft.com/office/officeart/2005/8/layout/process1"/>
    <dgm:cxn modelId="{0BD4DC7E-9605-4DE7-957E-BE1DFF59468F}" type="presParOf" srcId="{2967ED40-C3D8-4EBD-87F3-D33CAF831280}" destId="{5E0ADB6B-906E-4207-96B5-D3CF42F6B37B}" srcOrd="5" destOrd="0" presId="urn:microsoft.com/office/officeart/2005/8/layout/process1"/>
    <dgm:cxn modelId="{A7B4F9A0-E181-4DB6-9FA6-AD15B1637BA6}" type="presParOf" srcId="{5E0ADB6B-906E-4207-96B5-D3CF42F6B37B}" destId="{D4DBA4B0-5021-4966-BD7A-F35EFDD549E8}" srcOrd="0" destOrd="0" presId="urn:microsoft.com/office/officeart/2005/8/layout/process1"/>
    <dgm:cxn modelId="{29E1581A-2005-4C0E-BE3B-B8A6ED2CBD17}" type="presParOf" srcId="{2967ED40-C3D8-4EBD-87F3-D33CAF831280}" destId="{43B483ED-033D-4E47-9C40-D6411D339A4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CA71C-AE58-4409-BA23-3D6BDDA94C0D}">
      <dsp:nvSpPr>
        <dsp:cNvPr id="0" name=""/>
        <dsp:cNvSpPr/>
      </dsp:nvSpPr>
      <dsp:spPr>
        <a:xfrm>
          <a:off x="0" y="28431"/>
          <a:ext cx="9604375" cy="397800"/>
        </a:xfrm>
        <a:prstGeom prst="roundRect">
          <a:avLst/>
        </a:prstGeom>
        <a:solidFill>
          <a:schemeClr val="tx1">
            <a:lumMod val="75000"/>
            <a:lumOff val="2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Reasoning Control in LLMs</a:t>
          </a:r>
        </a:p>
      </dsp:txBody>
      <dsp:txXfrm>
        <a:off x="19419" y="47850"/>
        <a:ext cx="9565537" cy="358962"/>
      </dsp:txXfrm>
    </dsp:sp>
    <dsp:sp modelId="{0EF05D16-16AD-4796-B44C-A04A19CDC530}">
      <dsp:nvSpPr>
        <dsp:cNvPr id="0" name=""/>
        <dsp:cNvSpPr/>
      </dsp:nvSpPr>
      <dsp:spPr>
        <a:xfrm>
          <a:off x="0" y="426231"/>
          <a:ext cx="9604375" cy="774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93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baseline="0" dirty="0"/>
            <a:t>Chain-of-Thought (Wei et al., 2022)- </a:t>
          </a:r>
          <a:r>
            <a:rPr lang="en-US" sz="1300" i="1" u="sng" kern="1200" baseline="0" dirty="0">
              <a:solidFill>
                <a:srgbClr val="0070C0"/>
              </a:solidFill>
            </a:rPr>
            <a:t>https://arxiv.org/abs/2205.11916</a:t>
          </a:r>
          <a:br>
            <a:rPr lang="en-US" sz="1300" kern="1200" baseline="0" dirty="0"/>
          </a:br>
          <a:r>
            <a:rPr lang="en-US" sz="1300" kern="1200" baseline="0" dirty="0"/>
            <a:t>- Improves reasoning accuracy but incurs large inference cost. 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baseline="0" dirty="0"/>
            <a:t>Self-Consistency (Wang et al., 2022)- </a:t>
          </a:r>
          <a:r>
            <a:rPr lang="en-US" sz="1300" i="1" u="sng" kern="1200" baseline="0" dirty="0">
              <a:solidFill>
                <a:srgbClr val="0070C0"/>
              </a:solidFill>
            </a:rPr>
            <a:t>https://arxiv.org/pdf/2210.03363</a:t>
          </a:r>
          <a:br>
            <a:rPr lang="en-US" sz="1300" kern="1200" baseline="0" dirty="0"/>
          </a:br>
          <a:r>
            <a:rPr lang="en-US" sz="1300" kern="1200" baseline="0" dirty="0"/>
            <a:t>- Increases robustness at the cost of multiple reasoning samples.</a:t>
          </a:r>
          <a:endParaRPr lang="en-US" sz="1300" kern="1200" dirty="0"/>
        </a:p>
      </dsp:txBody>
      <dsp:txXfrm>
        <a:off x="0" y="426231"/>
        <a:ext cx="9604375" cy="774180"/>
      </dsp:txXfrm>
    </dsp:sp>
    <dsp:sp modelId="{856DE3FF-3109-4C05-A152-CEDB8902210A}">
      <dsp:nvSpPr>
        <dsp:cNvPr id="0" name=""/>
        <dsp:cNvSpPr/>
      </dsp:nvSpPr>
      <dsp:spPr>
        <a:xfrm>
          <a:off x="0" y="1200411"/>
          <a:ext cx="9604375" cy="397800"/>
        </a:xfrm>
        <a:prstGeom prst="roundRect">
          <a:avLst/>
        </a:prstGeom>
        <a:solidFill>
          <a:schemeClr val="tx1">
            <a:lumMod val="75000"/>
            <a:lumOff val="2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Adaptive Reasoning &amp; Routing</a:t>
          </a:r>
        </a:p>
      </dsp:txBody>
      <dsp:txXfrm>
        <a:off x="19419" y="1219830"/>
        <a:ext cx="9565537" cy="358962"/>
      </dsp:txXfrm>
    </dsp:sp>
    <dsp:sp modelId="{03157FE0-B05A-4701-BC6D-5AD5EB19D7A8}">
      <dsp:nvSpPr>
        <dsp:cNvPr id="0" name=""/>
        <dsp:cNvSpPr/>
      </dsp:nvSpPr>
      <dsp:spPr>
        <a:xfrm>
          <a:off x="0" y="1598211"/>
          <a:ext cx="9604375" cy="774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93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baseline="0" dirty="0"/>
            <a:t>Thinkless (</a:t>
          </a:r>
          <a:r>
            <a:rPr lang="en-US" sz="1300" kern="1200" baseline="0" dirty="0" err="1"/>
            <a:t>VainF</a:t>
          </a:r>
          <a:r>
            <a:rPr lang="en-US" sz="1300" kern="1200" baseline="0" dirty="0"/>
            <a:t> et al., 2025)- </a:t>
          </a:r>
          <a:r>
            <a:rPr lang="en-US" sz="1300" i="1" u="sng" kern="1200" baseline="0" dirty="0">
              <a:solidFill>
                <a:srgbClr val="0070C0"/>
              </a:solidFill>
            </a:rPr>
            <a:t>https://arxiv.org/abs/2505.13379</a:t>
          </a:r>
          <a:br>
            <a:rPr lang="en-US" sz="1300" kern="1200" baseline="0" dirty="0"/>
          </a:br>
          <a:r>
            <a:rPr lang="en-US" sz="1300" kern="1200" baseline="0" dirty="0"/>
            <a:t>- Uses reinforcement learning to decide between short vs long reasoning, reducing token usage while preserving accuracy.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baseline="0" dirty="0"/>
            <a:t>LLM Routers / Mixture-of-Experts- </a:t>
          </a:r>
          <a:r>
            <a:rPr lang="en-US" sz="1300" i="1" u="sng" kern="1200" baseline="0" dirty="0">
              <a:solidFill>
                <a:srgbClr val="0070C0"/>
              </a:solidFill>
            </a:rPr>
            <a:t>https://arxiv.org/abs/2101.03961</a:t>
          </a:r>
          <a:br>
            <a:rPr lang="en-US" sz="1300" kern="1200" baseline="0" dirty="0"/>
          </a:br>
          <a:r>
            <a:rPr lang="en-US" sz="1300" kern="1200" baseline="0" dirty="0"/>
            <a:t>- Route inputs to models of different sizes but rely on static heuristics or external classifiers.</a:t>
          </a:r>
          <a:endParaRPr lang="en-US" sz="1300" kern="1200" dirty="0"/>
        </a:p>
      </dsp:txBody>
      <dsp:txXfrm>
        <a:off x="0" y="1598211"/>
        <a:ext cx="9604375" cy="774180"/>
      </dsp:txXfrm>
    </dsp:sp>
    <dsp:sp modelId="{8F8E3966-F974-469C-8B58-B558FDFF750A}">
      <dsp:nvSpPr>
        <dsp:cNvPr id="0" name=""/>
        <dsp:cNvSpPr/>
      </dsp:nvSpPr>
      <dsp:spPr>
        <a:xfrm>
          <a:off x="0" y="2372391"/>
          <a:ext cx="9604375" cy="397800"/>
        </a:xfrm>
        <a:prstGeom prst="roundRect">
          <a:avLst/>
        </a:prstGeom>
        <a:solidFill>
          <a:schemeClr val="tx1">
            <a:lumMod val="75000"/>
            <a:lumOff val="2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Limitations of Existing Approaches</a:t>
          </a:r>
        </a:p>
      </dsp:txBody>
      <dsp:txXfrm>
        <a:off x="19419" y="2391810"/>
        <a:ext cx="9565537" cy="358962"/>
      </dsp:txXfrm>
    </dsp:sp>
    <dsp:sp modelId="{A0B00F4C-D337-4D18-9B6D-B875AC418CA6}">
      <dsp:nvSpPr>
        <dsp:cNvPr id="0" name=""/>
        <dsp:cNvSpPr/>
      </dsp:nvSpPr>
      <dsp:spPr>
        <a:xfrm>
          <a:off x="0" y="2770191"/>
          <a:ext cx="9604375" cy="651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93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baseline="0"/>
            <a:t>No explicit modeling of compute budgets or latency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baseline="0"/>
            <a:t>No abstention or uncertainty-aware behavior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baseline="0"/>
            <a:t>Optimization focuses primarily on accuracy, not multi-objective efficiency</a:t>
          </a:r>
          <a:endParaRPr lang="en-US" sz="1300" kern="1200"/>
        </a:p>
      </dsp:txBody>
      <dsp:txXfrm>
        <a:off x="0" y="2770191"/>
        <a:ext cx="9604375" cy="6510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B9684-FF61-4A5D-BC28-2DD49654FB0A}">
      <dsp:nvSpPr>
        <dsp:cNvPr id="0" name=""/>
        <dsp:cNvSpPr/>
      </dsp:nvSpPr>
      <dsp:spPr>
        <a:xfrm>
          <a:off x="4220" y="197684"/>
          <a:ext cx="1845371" cy="3054268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Phase 1: Baseline Reproduction (Weeks 1–2)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baseline="0" dirty="0"/>
            <a:t>Reproduce Thinkless results on reasoning benchmarks (GSM8K, MATH-500)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baseline="0" dirty="0"/>
            <a:t>Analyze token usage vs accuracy trade-offs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baseline="0" dirty="0"/>
            <a:t>Use Thinkless as the baseline policy</a:t>
          </a:r>
          <a:endParaRPr lang="en-US" sz="1400" kern="1200" dirty="0"/>
        </a:p>
      </dsp:txBody>
      <dsp:txXfrm>
        <a:off x="58269" y="251733"/>
        <a:ext cx="1737273" cy="2946170"/>
      </dsp:txXfrm>
    </dsp:sp>
    <dsp:sp modelId="{CF1E434C-576E-47FF-9CFC-9CB85E7C2EBA}">
      <dsp:nvSpPr>
        <dsp:cNvPr id="0" name=""/>
        <dsp:cNvSpPr/>
      </dsp:nvSpPr>
      <dsp:spPr>
        <a:xfrm>
          <a:off x="2034129" y="1495992"/>
          <a:ext cx="391218" cy="4576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034129" y="1587522"/>
        <a:ext cx="273853" cy="274592"/>
      </dsp:txXfrm>
    </dsp:sp>
    <dsp:sp modelId="{050B52D8-684C-4437-9E8F-FE9CE6FE6C99}">
      <dsp:nvSpPr>
        <dsp:cNvPr id="0" name=""/>
        <dsp:cNvSpPr/>
      </dsp:nvSpPr>
      <dsp:spPr>
        <a:xfrm>
          <a:off x="2587741" y="197684"/>
          <a:ext cx="1845371" cy="3054268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Phase 2: Compute-Aware Policy Extension (Weeks 3–4)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baseline="0" dirty="0"/>
            <a:t>Introduce explicit token and latency budgets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baseline="0" dirty="0"/>
            <a:t>Modify reward function:</a:t>
          </a:r>
          <a:br>
            <a:rPr lang="en-US" sz="1400" kern="1200" baseline="0" dirty="0"/>
          </a:br>
          <a:r>
            <a:rPr lang="en-US" sz="1100" b="1" i="1" kern="1200" baseline="0" dirty="0">
              <a:solidFill>
                <a:schemeClr val="accent1">
                  <a:lumMod val="40000"/>
                  <a:lumOff val="60000"/>
                </a:schemeClr>
              </a:solidFill>
            </a:rPr>
            <a:t>Reward = Accuracy − </a:t>
          </a:r>
          <a:r>
            <a:rPr lang="el-GR" sz="1100" b="1" i="1" kern="1200" baseline="0" dirty="0">
              <a:solidFill>
                <a:schemeClr val="accent1">
                  <a:lumMod val="40000"/>
                  <a:lumOff val="60000"/>
                </a:schemeClr>
              </a:solidFill>
            </a:rPr>
            <a:t>λ·</a:t>
          </a:r>
          <a:r>
            <a:rPr lang="en-US" sz="1100" b="1" i="1" kern="1200" baseline="0" dirty="0">
              <a:solidFill>
                <a:schemeClr val="accent1">
                  <a:lumMod val="40000"/>
                  <a:lumOff val="60000"/>
                </a:schemeClr>
              </a:solidFill>
            </a:rPr>
            <a:t>Tokens − </a:t>
          </a:r>
          <a:r>
            <a:rPr lang="el-GR" sz="1100" b="1" i="1" kern="1200" baseline="0" dirty="0">
              <a:solidFill>
                <a:schemeClr val="accent1">
                  <a:lumMod val="40000"/>
                  <a:lumOff val="60000"/>
                </a:schemeClr>
              </a:solidFill>
            </a:rPr>
            <a:t>μ·</a:t>
          </a:r>
          <a:r>
            <a:rPr lang="en-US" sz="1100" b="1" i="1" kern="1200" baseline="0" dirty="0">
              <a:solidFill>
                <a:schemeClr val="accent1">
                  <a:lumMod val="40000"/>
                  <a:lumOff val="60000"/>
                </a:schemeClr>
              </a:solidFill>
            </a:rPr>
            <a:t>Latency</a:t>
          </a:r>
          <a:endParaRPr lang="en-US" sz="1100" b="1" i="1" kern="1200" dirty="0">
            <a:solidFill>
              <a:schemeClr val="accent1">
                <a:lumMod val="40000"/>
                <a:lumOff val="60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baseline="0" dirty="0"/>
            <a:t>Train budget-aware inference policies</a:t>
          </a:r>
          <a:endParaRPr lang="en-US" sz="1400" kern="1200" dirty="0"/>
        </a:p>
      </dsp:txBody>
      <dsp:txXfrm>
        <a:off x="2641790" y="251733"/>
        <a:ext cx="1737273" cy="2946170"/>
      </dsp:txXfrm>
    </dsp:sp>
    <dsp:sp modelId="{562FA5B2-04A8-4AE7-9998-05270102CB68}">
      <dsp:nvSpPr>
        <dsp:cNvPr id="0" name=""/>
        <dsp:cNvSpPr/>
      </dsp:nvSpPr>
      <dsp:spPr>
        <a:xfrm>
          <a:off x="4617650" y="1495992"/>
          <a:ext cx="391218" cy="4576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617650" y="1587522"/>
        <a:ext cx="273853" cy="274592"/>
      </dsp:txXfrm>
    </dsp:sp>
    <dsp:sp modelId="{AD8E684E-181D-4083-99AB-7B07D2F2C687}">
      <dsp:nvSpPr>
        <dsp:cNvPr id="0" name=""/>
        <dsp:cNvSpPr/>
      </dsp:nvSpPr>
      <dsp:spPr>
        <a:xfrm>
          <a:off x="5171261" y="197684"/>
          <a:ext cx="1845371" cy="3054268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Phase 3: Risk-Aware Abstention (Weeks 5–6)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baseline="0" dirty="0"/>
            <a:t>Add an abstain / defer action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baseline="0" dirty="0"/>
            <a:t>Use uncertainty signals (entropy, self-consistency variance)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baseline="0" dirty="0"/>
            <a:t>Reward safe abstention under high uncertainty</a:t>
          </a:r>
          <a:endParaRPr lang="en-US" sz="1400" kern="1200" dirty="0"/>
        </a:p>
      </dsp:txBody>
      <dsp:txXfrm>
        <a:off x="5225310" y="251733"/>
        <a:ext cx="1737273" cy="2946170"/>
      </dsp:txXfrm>
    </dsp:sp>
    <dsp:sp modelId="{5E0ADB6B-906E-4207-96B5-D3CF42F6B37B}">
      <dsp:nvSpPr>
        <dsp:cNvPr id="0" name=""/>
        <dsp:cNvSpPr/>
      </dsp:nvSpPr>
      <dsp:spPr>
        <a:xfrm>
          <a:off x="7201170" y="1495992"/>
          <a:ext cx="391218" cy="4576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201170" y="1587522"/>
        <a:ext cx="273853" cy="274592"/>
      </dsp:txXfrm>
    </dsp:sp>
    <dsp:sp modelId="{43B483ED-033D-4E47-9C40-D6411D339A48}">
      <dsp:nvSpPr>
        <dsp:cNvPr id="0" name=""/>
        <dsp:cNvSpPr/>
      </dsp:nvSpPr>
      <dsp:spPr>
        <a:xfrm>
          <a:off x="7754782" y="197684"/>
          <a:ext cx="1845371" cy="3054268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Phase 4: Evaluation &amp; Analysis (Weeks 7–8)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u="sng" kern="1200" baseline="0" dirty="0"/>
            <a:t>Compare against</a:t>
          </a:r>
          <a:r>
            <a:rPr lang="en-US" sz="1400" kern="1200" baseline="0" dirty="0"/>
            <a:t>: Always-think, Never-think, Original Thinkless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u="sng" kern="1200" baseline="0" dirty="0"/>
            <a:t>Metrics</a:t>
          </a:r>
          <a:r>
            <a:rPr lang="en-US" sz="1400" kern="1200" baseline="0" dirty="0"/>
            <a:t>:  Accuracy, Token usage, Latency, Calibration (ECE)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baseline="0" dirty="0"/>
            <a:t>Plot Pareto frontiers (accuracy versus compute)</a:t>
          </a:r>
          <a:endParaRPr lang="en-US" sz="1400" kern="1200" dirty="0"/>
        </a:p>
      </dsp:txBody>
      <dsp:txXfrm>
        <a:off x="7808831" y="251733"/>
        <a:ext cx="1737273" cy="29461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67D-BA97-4713-B483-1B5EFD730C1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BE83049-17A2-4174-B24B-9D759972EE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23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67D-BA97-4713-B483-1B5EFD730C1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83049-17A2-4174-B24B-9D759972EE2B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52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67D-BA97-4713-B483-1B5EFD730C1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83049-17A2-4174-B24B-9D759972EE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941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67D-BA97-4713-B483-1B5EFD730C1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83049-17A2-4174-B24B-9D759972EE2B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68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67D-BA97-4713-B483-1B5EFD730C1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83049-17A2-4174-B24B-9D759972EE2B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087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67D-BA97-4713-B483-1B5EFD730C1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83049-17A2-4174-B24B-9D759972EE2B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46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67D-BA97-4713-B483-1B5EFD730C1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83049-17A2-4174-B24B-9D759972E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20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67D-BA97-4713-B483-1B5EFD730C1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83049-17A2-4174-B24B-9D759972EE2B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31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997967D-BA97-4713-B483-1B5EFD730C1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83049-17A2-4174-B24B-9D759972EE2B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55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67D-BA97-4713-B483-1B5EFD730C1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83049-17A2-4174-B24B-9D759972EE2B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43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67D-BA97-4713-B483-1B5EFD730C1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83049-17A2-4174-B24B-9D759972EE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100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7967D-BA97-4713-B483-1B5EFD730C1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BE83049-17A2-4174-B24B-9D759972EE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209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3C0C-434F-BA78-73D4-A6D9CBF87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b="1" dirty="0"/>
              <a:t>Compute-Aware AI: </a:t>
            </a:r>
            <a:br>
              <a:rPr lang="en-US" sz="4000" dirty="0"/>
            </a:br>
            <a:r>
              <a:rPr lang="en-US" sz="4000" dirty="0"/>
              <a:t>A Self-Regulating Model That Learns When to Think, When to Act, and When to Stay Silent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0C740-BC65-7565-EAD0-7EE2D6D1D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93708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2B4150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Course Code: CSE499A – Senior Design Project 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2B4150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Submitted by:</a:t>
            </a:r>
            <a:br>
              <a:rPr lang="en-US" sz="1800" dirty="0">
                <a:solidFill>
                  <a:srgbClr val="2B4150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2B4150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	Md. Miraz Ihsan Chowdhury - 2131407642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1800" dirty="0">
                <a:solidFill>
                  <a:srgbClr val="2B4150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	Abdus Samad Sunny - 2212047042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94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C1FA-DA72-23D7-B05B-0E93CC2E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#1. Problem Statement: Compute-Inefficient and Overconfident LLM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C1903-AC6E-7BB1-D1BA-D6EDE9BFD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700" dirty="0"/>
              <a:t>Large Language Models (LLMs) rely heavily on chain-of-thought reasoning to solve complex tasks. However, current systems apply deep reasoning uniformly, regardless of task difficulty or risk level. This leads to:</a:t>
            </a:r>
          </a:p>
          <a:p>
            <a:pPr lvl="1"/>
            <a:r>
              <a:rPr lang="en-US" sz="2700" dirty="0"/>
              <a:t>Excessive compute and latency on simple queries</a:t>
            </a:r>
          </a:p>
          <a:p>
            <a:pPr lvl="1"/>
            <a:r>
              <a:rPr lang="en-US" sz="2700" dirty="0"/>
              <a:t>High deployment cost and environmental impact</a:t>
            </a:r>
          </a:p>
          <a:p>
            <a:pPr lvl="1"/>
            <a:r>
              <a:rPr lang="en-US" sz="2700" dirty="0"/>
              <a:t>Overconfident incorrect answers in high-uncertainty scenarios</a:t>
            </a:r>
          </a:p>
          <a:p>
            <a:pPr lvl="1"/>
            <a:r>
              <a:rPr lang="en-US" sz="2700" dirty="0"/>
              <a:t>Lack of self-regulation mechanisms in inference pipelines</a:t>
            </a:r>
          </a:p>
          <a:p>
            <a:pPr marL="0" indent="0">
              <a:buNone/>
            </a:pPr>
            <a:r>
              <a:rPr lang="en-US" sz="2700" dirty="0"/>
              <a:t>Recent work such as </a:t>
            </a:r>
            <a:r>
              <a:rPr lang="en-US" sz="2700" b="1" i="1" dirty="0"/>
              <a:t>Thinkless</a:t>
            </a:r>
            <a:r>
              <a:rPr lang="en-US" sz="2700" dirty="0"/>
              <a:t> shows that models can learn </a:t>
            </a:r>
            <a:r>
              <a:rPr lang="en-US" sz="2700" i="1" dirty="0"/>
              <a:t>when to reason</a:t>
            </a:r>
            <a:r>
              <a:rPr lang="en-US" sz="2700" dirty="0"/>
              <a:t> versus respond concisely, but it does not consider:</a:t>
            </a:r>
          </a:p>
          <a:p>
            <a:pPr lvl="1"/>
            <a:r>
              <a:rPr lang="en-US" sz="2700" dirty="0"/>
              <a:t>Explicit compute budgets</a:t>
            </a:r>
          </a:p>
          <a:p>
            <a:pPr lvl="1"/>
            <a:r>
              <a:rPr lang="en-US" sz="2700" dirty="0"/>
              <a:t>Latency constraints</a:t>
            </a:r>
          </a:p>
          <a:p>
            <a:pPr lvl="1"/>
            <a:r>
              <a:rPr lang="en-US" sz="2700" dirty="0"/>
              <a:t>Risk-aware abstention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729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51B0-CD56-6E23-B8A6-3A4B69A7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31683"/>
            <a:ext cx="9603275" cy="497941"/>
          </a:xfrm>
        </p:spPr>
        <p:txBody>
          <a:bodyPr>
            <a:normAutofit fontScale="90000"/>
          </a:bodyPr>
          <a:lstStyle/>
          <a:p>
            <a:r>
              <a:rPr lang="en-US" dirty="0"/>
              <a:t>#2. Related Works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AF4328E-CD96-229F-4A63-4EB0092D2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1976508"/>
              </p:ext>
            </p:extLst>
          </p:nvPr>
        </p:nvGraphicFramePr>
        <p:xfrm>
          <a:off x="1450975" y="2016125"/>
          <a:ext cx="96043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811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0E381-DBCD-4BA8-A855-75A36A559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975" y="1047585"/>
            <a:ext cx="9603275" cy="689303"/>
          </a:xfrm>
        </p:spPr>
        <p:txBody>
          <a:bodyPr>
            <a:normAutofit/>
          </a:bodyPr>
          <a:lstStyle/>
          <a:p>
            <a:r>
              <a:rPr lang="en-US" dirty="0"/>
              <a:t>#3. Work Plan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276E70-45F0-135E-4187-D5B662416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089684"/>
              </p:ext>
            </p:extLst>
          </p:nvPr>
        </p:nvGraphicFramePr>
        <p:xfrm>
          <a:off x="1450975" y="2016125"/>
          <a:ext cx="96043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4374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E25E71-2CF8-E8DB-AC2A-AEA5528981A5}"/>
              </a:ext>
            </a:extLst>
          </p:cNvPr>
          <p:cNvSpPr txBox="1"/>
          <p:nvPr/>
        </p:nvSpPr>
        <p:spPr>
          <a:xfrm>
            <a:off x="3877901" y="2105561"/>
            <a:ext cx="44361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5598768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70</TotalTime>
  <Words>462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Gill Sans MT</vt:lpstr>
      <vt:lpstr>Times New Roman</vt:lpstr>
      <vt:lpstr>Gallery</vt:lpstr>
      <vt:lpstr>Compute-Aware AI:  A Self-Regulating Model That Learns When to Think, When to Act, and When to Stay Silent</vt:lpstr>
      <vt:lpstr>#1. Problem Statement: Compute-Inefficient and Overconfident LLM Inference</vt:lpstr>
      <vt:lpstr>#2. Related Works</vt:lpstr>
      <vt:lpstr>#3. Work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Miraz Ihsan</dc:creator>
  <cp:lastModifiedBy>Miraz Ihsan</cp:lastModifiedBy>
  <cp:revision>1</cp:revision>
  <dcterms:created xsi:type="dcterms:W3CDTF">2026-02-08T16:05:17Z</dcterms:created>
  <dcterms:modified xsi:type="dcterms:W3CDTF">2026-02-08T17:16:01Z</dcterms:modified>
</cp:coreProperties>
</file>